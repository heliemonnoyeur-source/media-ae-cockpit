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PG + DISCO CHALLENGE · 60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80467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5F5F5"/>
                </a:solidFill>
                <a:latin typeface="Inter"/>
              </a:rPr>
              <a:t>Cursor Enterprise</a:t>
            </a:r>
          </a:p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5F5F5"/>
                </a:solidFill>
                <a:latin typeface="Inter"/>
              </a:rPr>
              <a:t>Pipeline +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Cursor wins on workflow, context, and execution.</a:t>
            </a:r>
          </a:p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~70 % des Fortune 1000 l'utilisent déjà.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011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377440"/>
            <a:ext cx="4114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400" b="0" i="0">
                <a:solidFill>
                  <a:srgbClr val="F5F5F5"/>
                </a:solidFill>
                <a:latin typeface="Inter"/>
              </a:rPr>
              <a:t>P1 · Greenfield F100  (20–25')</a:t>
            </a:r>
          </a:p>
          <a:p>
            <a:pPr algn="l">
              <a:lnSpc>
                <a:spcPct val="200000"/>
              </a:lnSpc>
            </a:pPr>
            <a:r>
              <a:rPr sz="1400" b="0" i="0">
                <a:solidFill>
                  <a:srgbClr val="F5F5F5"/>
                </a:solidFill>
                <a:latin typeface="Inter"/>
              </a:rPr>
              <a:t>P2 · Mock Disco Figma  (20–25')</a:t>
            </a:r>
          </a:p>
          <a:p>
            <a:pPr algn="l">
              <a:lnSpc>
                <a:spcPct val="200000"/>
              </a:lnSpc>
            </a:pPr>
            <a:r>
              <a:rPr sz="1400" b="0" i="0">
                <a:solidFill>
                  <a:srgbClr val="F5F5F5"/>
                </a:solidFill>
                <a:latin typeface="Inter"/>
              </a:rPr>
              <a:t>P3 · Reflection &amp; Debrief  (10–15')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POSTURE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534924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5F5F5"/>
                </a:solidFill>
                <a:latin typeface="Inter"/>
              </a:rPr>
              <a:t>Discovery &gt; pitch.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5F5F5"/>
                </a:solidFill>
                <a:latin typeface="Inter"/>
              </a:rPr>
              <a:t>Opinionated, not scripted.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F5F5F5"/>
                </a:solidFill>
                <a:latin typeface="Inter"/>
              </a:rPr>
              <a:t>Ground claims, no hype.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Confidential — Internal prep 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60 MINUTES, TROIS EXERCICES CONNECTÉS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Comment le temps va passer.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Account-development mindset informe la discovery. Une histoire, trois preuves.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66160"/>
            <a:ext cx="112014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5661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6B6B6B"/>
                </a:solidFill>
                <a:latin typeface="JetBrains Mono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JetBrains Mono"/>
              </a:rPr>
              <a:t>0–25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F5F5"/>
                </a:solidFill>
                <a:latin typeface="Inter"/>
              </a:rPr>
              <a:t>Greenfield Pipeline (F100)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Top 5 ranked · deep-dive #1 · stakeholder map · entry &amp; 90 days.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26280"/>
            <a:ext cx="112014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262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6B6B6B"/>
                </a:solidFill>
                <a:latin typeface="JetBrains Mono"/>
              </a:rPr>
              <a:t>PART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7091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JetBrains Mono"/>
              </a:rPr>
              <a:t>25–50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6634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F5F5"/>
                </a:solidFill>
                <a:latin typeface="Inter"/>
              </a:rPr>
              <a:t>Mock Discovery — Figma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98348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Marcel Weekes · 650 engs · 85% VS Code · Copilot + Claude Code · 31 shadow Pro.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2014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6B6B6B"/>
                </a:solidFill>
                <a:latin typeface="JetBrains Mono"/>
              </a:rPr>
              <a:t>PART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6692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JetBrains Mono"/>
              </a:rPr>
              <a:t>50–60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623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5F5F5"/>
                </a:solidFill>
                <a:latin typeface="Inter"/>
              </a:rPr>
              <a:t>Reflection &amp; Debrief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94360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Top insights · deal hypothesis · 4 strategic questions · self-assessment.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PART 1 · GREENFIELD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Spain &amp; Italy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from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GTM Iberia + Italie. Top 5 ranked, deep dive sur Santander :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account thesis, stakeholder map, entry sequencing, first 90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CRITÈRES DE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AVANT LE TOP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Comment je classe un compte ENT Spain &amp; Italy.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Cinq lentilles, pondérées. Toute exception = on cherche pourquoi.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01 · Eng headcount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3756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≥ 5 K ingés pour un deal enterprise pertinent. Plus c'est gros, plus le math ROI parle.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93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935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02 · AI mandate public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959352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Roadmap IA exécutive annoncée → champion réception facilitée, urgence existante.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81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03 · Reg / privacy posture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581144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Régulés EU (DORA, EU AI Act, ECB) = Privacy Mode = enabler, pas blocker. Notre edge.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7550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029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04 · Codebase complexité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02936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Legacy + modern + mono / multi repo = large codebase performance pertinent.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9729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247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247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05 · Procurement reach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824728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Équipe dev-tools identifiable + path procurement traçable = vélocité de deal.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1908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TOP 5 PROSPECTS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05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GREENFIELD · RANKED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Top 5 GTM Spain &amp; Italy.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Ranking défendable. Santander en #1 → deep-dive sur les 4 slides qui suivent.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5584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3558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Santander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3649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~15–20 K tech · « One Transformation » sous Dirk Marzluf · régulé multi-juridictions · Openbank = wedge digital-native.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4107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Plus gros TAM Iberia + champion-ready.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04488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1421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142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BBVA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233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~10 K tech · ChatGPT Enterprise déjà déployé org-wide · narrative « born digital » sous Carlos Torres.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0690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AI-ready buyer, vélocité forte.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62856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628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7258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67258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Enel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68172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~15 K tech · transition énergétique = urgence · OpenInnovability AI lab · CISO mature.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7274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Plus gros TAM Italie.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221224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22122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309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33095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EssilorLuxottica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34009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~5–7 K tech / 190 K total · Industry 4.0 + e-commerce push · régulé (medical devices).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538581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Compte FR/IT, leverage industriel.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879592"/>
            <a:ext cx="11201400" cy="603504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8795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5F5F5"/>
                </a:solidFill>
                <a:latin typeface="JetBrains Mono"/>
              </a:rPr>
              <a:t>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989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F5F5"/>
                </a:solidFill>
                <a:latin typeface="Inter"/>
              </a:rPr>
              <a:t>El Corte Inglés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99846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~2–3 K tech · transformation e-commerce + supply chain sous Marta Álvarez · moins de concurrence.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6044184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E5E5E5"/>
                </a:solidFill>
                <a:latin typeface="Inter"/>
              </a:rPr>
              <a:t>Moins crowded, deal accessible.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DEEP DIVE · SANTANDER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06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TOP PROSPECT · ACCOUNT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Santander — why now, where Cursor wins.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4 angles. Tous ont une preuve publique citable (analyst calls, presse Iberia).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WHY SANTANDER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~15–20 K tech (Santander Global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T&amp;O + Openbank + Cardinal).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Ana Botín mentionne l'IA à chaque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results call.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Partenariats OpenAI + Google Cloud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annoncés en 2024.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« One Transformation » T&amp;O lancée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2024 sous Dirk Marzluf.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BBVA a déployé ChatGPT Enterprise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org-wide → pression compétitive directe.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DORA + EU AI Act = urgence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gouvernance 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LEVIERS CURSOR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Velocity (Openbank, digital-native).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Governance (Privacy Mode pour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ECB / BoE / Fed).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Onboarding (rotations 10+ pays).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Cost (réduction IT spend / revenue).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FORCES MARCHÉ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Talent IA cher en Iberia →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outil = levier hiring &amp; rétention.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Model neutrality = résilience face à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l'écosystème EU souverain.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Claude Code en éval chez les pairs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Européens (ING, BNP).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SANTANDER ·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07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ENGINEERING ORG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Qui je cible, dans quel ordre, et pourquoi.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Power signals : budget T&amp;O, hiring T&amp;O Madrid/London, sponsorship d'initiatives IA Botín-niveau.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Openbank CTO + Head of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4612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Wedge #1. Filiale digital-native, autonome, procurement plus court.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46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Cold + LinkedIn. Message : « pilote 30 j sur 1 squad, métriques pré-définies 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130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496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496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Dir / VP Developer Productivity — Santander T&amp;O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849624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Buyer économique au niveau Groupe. Porte le budget dev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84962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Warm intro Madrid tech community + ref customer EU bank si dispo.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1655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53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531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AppSec leadership (sous le CISO Groupe)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45312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Gatekeeper. Pas un blocker si Privacy Mode + SOC 2 + DORA-aligned anticipés.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4531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On les inclut tôt, on envoie SIG + pentest + DPA avant de demander.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00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5663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0566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Dirk Marzluf (Group Head of T&amp;O)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056632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Exec sponsor. Pas en first touch — on l'engage quand on a un POC chiffré.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056632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Une fois POC live : board-level ROI + risk reduction story.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01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Engineers (bottom-up)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660136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Adoption shadow = signal Marcel-style. Free tier monitoring sur emails Santander.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660136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E5E5E5"/>
                </a:solidFill>
                <a:latin typeface="Inter"/>
              </a:rPr>
              <a:t>On surveille signups, on identifie un staff IC champion à Madrid.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2270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SANTANDER · ENTRY + 90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08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PIPELINE &amp; SEQUENCING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Comment je crée le momentum.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Outreach multi-canal, séquencé, mesurable. 90 jours pour un POC Openbank chiffré.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46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ENTRY POINTS — séquencés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Openbank-first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74903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Wedge digital-native. Cible Openbank CTO + Head of Eng. Procurement plus court.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5195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Cold outbound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25195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Dir DevProd Santander T&amp;O + AppSec, 3 touches/sem, ROI + ref EU bank.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7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Warm intro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75487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Madrid tech community (South Summit, Endeavor, Wayra alumni). Petit monde.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79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Conférence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525779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South Summit Madrid · Money 20/20 Europe · DevOpsCon Madrid.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6071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Bottom-up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76071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Free tier monitoring sur @santander.com → champion IC à Madrid/Boston.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461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490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JetBrains Mono"/>
              </a:rPr>
              <a:t>J0–J30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74903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Research Openbank + Santander T&amp;O.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3 cold touches/sem + 1 warm intro Madrid.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Success : 1 mtg Openbank CTO, 1 mtg AppSec.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590287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JetBrains Mono"/>
              </a:rPr>
              <a:t>J30–J60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590287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Discovery Openbank + parallel intro T&amp;O.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Success : POC 20–30 ingés signé sur 1 squad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Openbank (mobile ou backend).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43153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JetBrains Mono"/>
              </a:rPr>
              <a:t>J60–J90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431535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POC live, Privacy Mode mandaté + DORA-aligned.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Success : cycle-time + PR + NPS mesurés.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Ouvre conversation Groupe T&amp;O sur 1 K+ seats.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1  ·  SANTANDER · PILOT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09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INITIAL PILOT MOTION · OPENBANK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À quoi ressemble le POC chiffré.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Openbank = path of least resistance. Success ici ouvre la conversation Groupe T&amp;O sur 1 K+ seats.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20–30 ingés Openbank (digital-native,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stack moderne, vélocité élevée).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30 jours.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1 squad mobile ou backend, 1 repo de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référence.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MÉTRIQUES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Cycle time (PR opened → merged)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PR throughput / ingé / semaine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Senior IC adoption rate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NPS engagement à J+15 et J+30.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SECURITY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Privacy Mode obligatoire.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SOC 2 + SIG envoyés J-7.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DORA-aligned : audit logs, data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residency EU validés.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AppSec Groupe dans la loop dès J0.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EXIT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Cycle-time ↓ ≥ 12 %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NPS ≥ 50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Senior IC adoption ≥ 60 %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→ ouvre Groupe T&amp;O sur Santander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Global Tech : 1 000–5 000 seats.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PART 2 · MOCK DISCOVERY · FIGMA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Marcel Weekes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inbound.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VP Eng · ~650 ingénieurs · 85 % VS Code · Copilot déployé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Claude Code en évaluation · 31 Cursor Pro shadow (Privacy Mode mixte).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BRIEF · FIGMA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11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CE QU'ON SAIT AVANT D'ENTRER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Le brief, en 6 faits.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Chaque fait est un levier discovery. On les exploite — pas on les répète.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Marcel Weekes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46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VP of Engineering, leads ~650 engineers.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461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Buyer économique principal. KPI : vélocité, talent.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85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~85 % sur 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8503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Standard interne dominant.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68503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Cursor = VS Code fork. Drop-in. Muscle memory transfer.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965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239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GitHub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1239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Déployé sur toute l'équipe.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239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Baseline connu. « Why change » = quality gap, pas absence d'outil.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3542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62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Claude Code 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62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En évaluation active en ce moment.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56285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THE compétiteur. Why now est déjà établi de leur côté.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7433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001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31 Cursor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50017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Shadow usage interne, Privacy Mode mixte.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00176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Or pur. Champion silencieux + risque sécu = leur problème, notre wedge.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132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5F5F5"/>
                </a:solidFill>
                <a:latin typeface="Inter"/>
              </a:rPr>
              <a:t>Attendees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Marcel + Security Eng Leader + Security IC.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E5E5E5"/>
                </a:solidFill>
                <a:latin typeface="Inter"/>
              </a:rPr>
              <a:t>→ 2/3 sécu. La conversation est sécurité-first, pas velocity-first.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8521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STRUCTURE DU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20–25 minutes, timeboxé.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Marcel parle d'abord. Sécu entre minute 5. Goal = follow-up précis, pas pilote.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0:00 – 1:30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520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Cadrage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5204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Agenda · permission · ancrage sur les 31 Pro users.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5079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1:30 – 9:30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0507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0507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Marcel d'abord, Sécurité à partir de 5:00.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9:30 – 13:00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58114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Thèse + 1 proof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811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Why now (urgence eux) · why Cursor (vs Claude Code).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13:00 – 17:00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11149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Sécurité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11149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Privacy Mode 3 bullets + SOC 2. J'ouvre, pas eux.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61441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4184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JetBrains Mono"/>
              </a:rPr>
              <a:t>17:00 – 20:00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641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Next step précis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56418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Follow-up nommé : qui, quand, pour quoi faire.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14476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OPENER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13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LES 90 PREMIÈRES SECONDES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Script d'ouverture.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Préparation visible (nom, faits) · pas de pitch · pré-engagement sur l'agenda.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971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6B6B6B"/>
                </a:solidFill>
                <a:latin typeface="Georg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11880"/>
            <a:ext cx="10149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F5F5F5"/>
                </a:solidFill>
                <a:latin typeface="Inter"/>
              </a:rPr>
              <a:t>Marcel, merci pour ces 20 minutes — et merci à [Security Eng Lead] et [Sec team member] de vous être joints, c'est exactement la configuration la plus utile pour cette conversation. Avant de commencer : j'ai noté que 31 de vos ingénieurs sont déjà sur Cursor Pro en mode mixte. Plutôt que de pitcher, je préfère partir de cette réalité — comprendre ce que vous en voyez en interne, ce qui pousse l'évaluation Claude Code en parallèle, et où vous voulez emmener tout ça à 6 mois. Je vais passer le plus clair du temps à poser des questions. Goal côté Cursor : un follow-up précis et utile, pas un pitch. Ça vous va comme cadrage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80">
                <a:solidFill>
                  <a:srgbClr val="6B6B6B"/>
                </a:solidFill>
                <a:latin typeface="Inter"/>
              </a:rPr>
              <a:t>EFFETS — préparation visible (31 Pro, Claude Code) · self-aware (pas de pitch) · pré-engagement · sécu impliquée dès le mot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MARCEL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8 MINUTES · VP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Questions ancrées sur les faits.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Chaque question pointe un fait connu. Pas de question générique.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Origine du shadow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31 ingés sur Cursor Pro — comment c'est arrivé, et qu'est-ce qu'ils en disent quand vous leur demandez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65760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Bottom-up signal. Si Marcel l'ignorait, c'est un trou de visibilité = wedge.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507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050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507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Pressure-test 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050792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Qu'est-ce qui vous a fait regarder Claude Code maintenant plutôt qu'il y a 6 mois, et qu'est-ce que vous attendez d'un éventuel switch ?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6227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Le « why now » est ici. On laisse Marcel le formuler à notre place.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554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55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Gap Copilot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855464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Copilot est déployé wall-to-wall — quel est le travail qui devrait être assisté et ne l'est pas aujourd'hui ?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6694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Refactos · large context · review. Là où Cursor a un edge tangible.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66013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6013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Senior IC opt-out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660136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Les seniors et les juniors utilisent Copilot pareil ? Y a-t-il un tier qui a discrètement décroché ? 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Senior opt-out = plafond ROI ~5 %. Notre meilleure preuve de gap.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6480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SÉCURITÉ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15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EMBARQUER LA SÉCURITÉ (2/3 ATTENDEES)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Questions sécurité ancrées sur le shadow Cursor.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Le sujet est déjà sur leur table — 31 Pro users en mode mixte. On le nomme.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Shadow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Les 31 utilisateurs Pro avec Privacy Mode mixte — ça a déclenché un review interne, ou pas encore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947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Pose la réalité du risque actuel sans la dramatiser.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06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Critères de sanction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33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Qu'est-ce qu'un outil IA de code doit prouver pour être sanctionné chez Figma — au-delà de SOC 2 ?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7823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Audit logs ? Data residency ? BYO-key ? On note pour anticiper.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937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21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JetBrains Mon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2122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Posture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22122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E5E5E5"/>
                </a:solidFill>
                <a:latin typeface="Inter"/>
              </a:rPr>
              <a:t>« Comment l'évaluation Claude Code se passe côté sécurité — qu'est-ce que vous regardez en parallèle de la capacité produit ?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76986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Inter"/>
              </a:rPr>
              <a:t>→ Donne le terrain de comparaison. Privacy Mode est un argument différenciateur.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18134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WHY CURSOR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16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TROIS ANGLES QUI MATCHENT LEUR RÉALITÉ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Pourquoi Cursor — calibré pour ce dossier précis.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On reprend les 4 différenciateurs officiels et on les zoom sur Figma.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383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VS Code fork = drop-in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40156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85 % de l'équipe est déjà sur VS Code. Muscle memory, extensions, keymaps, settings transfèrent. Coût d'adoption ≈ 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605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Large codebase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Éditeur C++/WASM + infra Rust/TS = repo complexe. C'est exactement le terrain où Cursor surperforme — semantic search, indexing, retrieval.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0060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Model neutrality vs Claude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95604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Claude Code = Anthropic-locked. Cursor donne accès au SOTA en continu — vous ne pariez pas la prochaine année sur un seul provider.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577840"/>
            <a:ext cx="11201400" cy="7132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5778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F5F5"/>
                </a:solidFill>
                <a:latin typeface="Inter"/>
              </a:rPr>
              <a:t>Platform, not just a 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573328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Plan · write · review · debug · iterate dans un seul environnement. Pas un CLI à côté de l'IDE. Workflow integration &gt; intelligence brute.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SÉCURITÉ · PRIVACY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17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MINUTE 13 — JE L'OUVRE MOI-MÊME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Le sujet est déjà chez eux. On le tranche.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31 Pro users en Privacy Mode mixte = le risque est déjà réel. Voici comment Cursor le règle.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46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Code non-stocké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Customer code is not stored or retained — c'est contractuel, pas un toggle.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6791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Pas d'entraînement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867912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Code is not used to train models — ni les nôtres, ni ceux des providers tiers.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6227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897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9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Requêtes éphémères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489704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Requests are isolated and ephemeral — pas de log persistant des prompts.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114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Enterprise readiness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11149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SOC 2 · contrôles admin · visibilité · SSO. Call security ↔ security sous 7 jours.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3328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6B6B6B"/>
                </a:solidFill>
                <a:latin typeface="JetBrains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73328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5F5F5"/>
                </a:solidFill>
                <a:latin typeface="Inter"/>
              </a:rPr>
              <a:t>Conversion shadow → sanctionné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33288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A0A0A0"/>
                </a:solidFill>
                <a:latin typeface="Inter"/>
              </a:rPr>
              <a:t>Les 31 Pro users actuels peuvent basculer en Privacy Mode mandaté en &lt; 1 jour.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DISCO ·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18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MINUTE 17 — LA SORTIE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Goal de l'exercice : un follow-up précis.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Pas un pilote. Pas un « on se rappelle ». Un meeting nommé, daté, avec un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37744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FOLLOW-UP PROPOSÉ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5F5F5"/>
                </a:solidFill>
                <a:latin typeface="Inter"/>
              </a:rPr>
              <a:t>60 min, sous 10 jours — Cursor SE + Cursor Security ↔ Figma DevEx + AppSec.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Purpose : (1) scoping technique d'un POC 20–30 ingés sur un repo nommé, métriques pré-définies,</a:t>
            </a:r>
          </a:p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A0A0A0"/>
                </a:solidFill>
                <a:latin typeface="Inter"/>
              </a:rPr>
              <a:t>Privacy Mode mandaté ; (2) review sécu parallèle (SIG, pentest, archi, DPA envoyés J-7).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PHRASE À 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179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Marcel, ça vaut le coup qu'on bloque 60 min sous 10 jours, vous + sécu + nos équivalents ? Je vous envoie le draft d'agenda dans la journée. 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6B6B6B"/>
                </a:solidFill>
                <a:latin typeface="Inter"/>
              </a:rPr>
              <a:t>PART 3 · REFLECTION &amp; DEBRIEF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10 minutes.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5F5F5"/>
                </a:solidFill>
                <a:latin typeface="Inter"/>
              </a:rPr>
              <a:t>Structured thinking.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2–3 min silencieuses pour rassembler. Puis : top insights · deal hypothesis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A0A0A0"/>
                </a:solidFill>
                <a:latin typeface="Inter"/>
              </a:rPr>
              <a:t>questions stratégiques · risks · self-assessment.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JetBrains Mono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3  ·  DEBRIEF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20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À REMPLIR PENDANT LES 2 MIN SILENCIEUSES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Top 3–5 insights + hypothèse de deal.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Format : un insight = un fait observé en disco + ce qu'il déclenche.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694944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69494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TOP INSIGHTS (à formuler en live)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1. Marcel sait pour les 31 ? → si oui, champion potentiel ; si non, trou de visibilité.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2. Claude Code = vrai eval ou veille ? → urgence réelle ou parking.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3. Senior IC opt-out sur Copilot ? → preuve de gap quality, pas absence d'outil.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4. Posture sécu : bloquant ou facilitant ? → vitesse de deal.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5. Budget pré-alloué ? → délai de signature 3 mois vs 9 mois.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246120"/>
            <a:ext cx="4069080" cy="32004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3246120"/>
            <a:ext cx="40690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DEAL HYPOTHESIS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49039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Setup typique 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Urgence moyenne (Claude Code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est en eval, pas en décision)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Champion à confirmer (Marcel ?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ou un staff IC sur les 31 Pro ?)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Sécu = vraie variable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(deal-maker ou deal-killer)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• Deal réaliste : POC à 60 j,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F5F5F5"/>
                </a:solidFill>
                <a:latin typeface="Inter"/>
              </a:rPr>
              <a:t>   500–650 seats à 6–9 mois.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3  ·  DEBRIEF · QUESTIONS STRATÉGIQUES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21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LES 4 QUESTIONS DU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Réponses préparées — à reformuler à chaud.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Ne pas réciter. Reformuler avec ce qu'on aura entendu en disco.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Pourquoi Figma a besoin d'une solution IA coding — Cursor ou pas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650 ingés sur du C++/WASM + Rust + TS = travail à haute complexité. Sans levier IA structuré, le talent senior va chercher la productivité ailleurs (interne ou externe).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41648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416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Que se passe-t-il s'ils ne font rien pendant 3–6 mois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Shadow Cursor monte de 31 à 100+. Claude Code peut-être déployé sans gouvernance. Le coût n'est pas l'outil — c'est la sécurité non-contrôlée + patterns figés sur Copilot.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82896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Y a-t-il un champion crédible ? Preuves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4865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À tester : Marcel sait-il pour les 31 ? Un staff IC parmi eux est-il identifiable ? Champion = quelqu'un qui défend le deal quand on n'est pas dans la salle.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24144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724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24144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5F5F5"/>
                </a:solidFill>
                <a:latin typeface="Inter"/>
              </a:rPr>
              <a:t>Comment Cursor est-il uniquement positionné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A0A0"/>
                </a:solidFill>
                <a:latin typeface="Inter"/>
              </a:rPr>
              <a:t>VS Code fork (drop-in pour 85 % de l'équipe) + model neutrality (vs Claude Code) + large codebase performance (vs Copilot) + Privacy Mode (vs shadow actuel).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65392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3  ·  DEBRIEF · RISKS + SELF-ASSESS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22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ANTICIPER, PUIS SE CRITIQUER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Risks attendus + qu'est-ce que je changerais.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Self-aware &gt; overconfident. Nommer les fragilités avant qu'on les pointe.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DEAL RISKS ANTICIPÉS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Compétition Claude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7947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L'eval peut conclure « assez bon » avant qu'on ait livré le POC.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Sécurité bloquante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2976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Si AppSec n'est pas adressé J0, le pilote glisse de 3 mois.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Politique interne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8006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Copilot a un sponsor org — switch perçu comme un échec interne.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Sprawl outils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3035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Cursor + Copilot + Claude Code en parallèle = personne ne décide.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5F5F5"/>
                </a:solidFill>
                <a:latin typeface="Inter"/>
              </a:rPr>
              <a:t>Procurement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Vendor risk review + DPA = 60–90 j incompressibles.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SELF-ASSESSMENT (template)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5F5F5"/>
                </a:solidFill>
                <a:latin typeface="Inter"/>
              </a:rPr>
              <a:t>Ce qui a marché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114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Ouvrir sur les 31 Pro = preuve de prep.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Laisser Marcel formuler le « why now 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5F5F5"/>
                </a:solidFill>
                <a:latin typeface="Inter"/>
              </a:rPr>
              <a:t>Ce que je changerais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Plus de temps sur les use-cases concrets (refactos vs review).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Pousser plus tôt sur le budget.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532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5F5F5"/>
                </a:solidFill>
                <a:latin typeface="Inter"/>
              </a:rPr>
              <a:t>Greenfield → disco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8521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Account thesis nourrit les questions ciblées.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A0A0A0"/>
                </a:solidFill>
                <a:latin typeface="Inter"/>
              </a:rPr>
              <a:t>Faits connus = wedges, pas accessoires.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PART 2  ·  ANTI-BLANK · PHRASES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23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QUAND ON PERD LE FIL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6 phrases à dire mot pour mot.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Reprendre la main sans pitcher. Garder l'executive presence sous pression.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SI LE SILENCE DURE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Je préfère vous laisser le temps — c'est votre conversation.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SI ON TAPE SUR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C'est un retour fair — voilà ce qu'on fait bien, voilà où on n'est pas le meilleur.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SI ON DEMANDE UN CHIFFRE QU'ON IGNORE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Je ne veux pas inventer — je vous reviens dans la journée avec la vraie réponse.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POUR PRESSURE-TEST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Qu'est-ce qui devrait être vrai pour que ce soit un non ?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POUR PASSER À LA SÉCU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Avant qu'on aille plus loin, je veux ouvrir la sécu — c'est là où ça se joue.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POUR CLORE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E5E5E5"/>
                </a:solidFill>
                <a:latin typeface="Inter"/>
              </a:rPr>
              <a:t>« Une question avant qu'on bloque le follow-up : qu'est-ce que j'aurais dû demander ? 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F5F5F5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6B6B6B"/>
                </a:solidFill>
                <a:latin typeface="Inter"/>
              </a:rPr>
              <a:t>META · CANDIDATE-ONLY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6B6B6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6B6B6B"/>
                </a:solidFill>
                <a:latin typeface="JetBrains Mono"/>
              </a:rPr>
              <a:t>24 /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6B6B6B"/>
                </a:solidFill>
                <a:latin typeface="Inter"/>
              </a:rPr>
              <a:t>À MASQUER PENDANT L'EXERCICE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F5F5"/>
                </a:solidFill>
                <a:latin typeface="Inter"/>
              </a:rPr>
              <a:t>Ce qui est vraiment évalué.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A0A0A0"/>
                </a:solidFill>
                <a:latin typeface="Inter"/>
              </a:rPr>
              <a:t>Six dimensions, explicites dans le prompt. À émettre activement les 60 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CE QUI EST ÉVALUÉ (du prompt)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94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Strategic thinking &amp; account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062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Enterprise stakeholder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Ability to CREATE urgency (not just respond)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292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29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Quality + sequencing of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Executive presence &amp; clarity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52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5E5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5F5F5"/>
                </a:solidFill>
                <a:latin typeface="Inter"/>
              </a:rPr>
              <a:t>Structured thinking in debrief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Inter"/>
              </a:rPr>
              <a:t>SIGNAUX (du doc Cursor)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E5E5E5"/>
                </a:solidFill>
                <a:latin typeface="Inter"/>
              </a:rPr>
              <a:t>FORTS — à émettre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023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Prepared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Self-aware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Composed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846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Tactically sharp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5F5F5"/>
                </a:solidFill>
                <a:latin typeface="Inter"/>
              </a:rPr>
              <a:t>● Coachable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B6B6B"/>
                </a:solidFill>
                <a:latin typeface="Inter"/>
              </a:rPr>
              <a:t>FAIBLES — à éviter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B6B6B"/>
                </a:solidFill>
                <a:latin typeface="Inter"/>
              </a:rPr>
              <a:t>○ Feature dump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60167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B6B6B"/>
                </a:solidFill>
                <a:latin typeface="Inter"/>
              </a:rPr>
              <a:t>○ AI hype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627278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B6B6B"/>
                </a:solidFill>
                <a:latin typeface="Inter"/>
              </a:rPr>
              <a:t>○ Overconfident sans grounding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