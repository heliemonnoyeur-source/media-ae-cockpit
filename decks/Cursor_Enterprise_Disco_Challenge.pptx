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400">
                <a:solidFill>
                  <a:srgbClr val="6B6B6B"/>
                </a:solidFill>
                <a:latin typeface="Inter"/>
              </a:rPr>
              <a:t>PG + DISCO CHALLENGE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80467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5F5F5"/>
                </a:solidFill>
                <a:latin typeface="Inter"/>
              </a:rPr>
              <a:t>Cursor Enterprise</a:t>
            </a:r>
          </a:p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5F5F5"/>
                </a:solidFill>
                <a:latin typeface="Inter"/>
              </a:rPr>
              <a:t>Pipeline + Discovery.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Cursor wins on workflow, context, and execution.</a:t>
            </a:r>
          </a:p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~70 % des Fortune 1000 l'utilisent déjà.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4114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400" b="0" i="0">
                <a:solidFill>
                  <a:srgbClr val="F5F5F5"/>
                </a:solidFill>
                <a:latin typeface="Inter"/>
              </a:rPr>
              <a:t>P1 · Greenfield F100  (20–25')</a:t>
            </a:r>
          </a:p>
          <a:p>
            <a:pPr algn="l">
              <a:lnSpc>
                <a:spcPct val="200000"/>
              </a:lnSpc>
            </a:pPr>
            <a:r>
              <a:rPr sz="1400" b="0" i="0">
                <a:solidFill>
                  <a:srgbClr val="F5F5F5"/>
                </a:solidFill>
                <a:latin typeface="Inter"/>
              </a:rPr>
              <a:t>P2 · Mock Disco Figma  (20–25')</a:t>
            </a:r>
          </a:p>
          <a:p>
            <a:pPr algn="l">
              <a:lnSpc>
                <a:spcPct val="200000"/>
              </a:lnSpc>
            </a:pPr>
            <a:r>
              <a:rPr sz="1400" b="0" i="0">
                <a:solidFill>
                  <a:srgbClr val="F5F5F5"/>
                </a:solidFill>
                <a:latin typeface="Inter"/>
              </a:rPr>
              <a:t>P3 · Reflection &amp; Debrief  (10–15')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34924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5F5F5"/>
                </a:solidFill>
                <a:latin typeface="Inter"/>
              </a:rPr>
              <a:t>Discovery &gt; pitch.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5F5F5"/>
                </a:solidFill>
                <a:latin typeface="Inter"/>
              </a:rPr>
              <a:t>Opinionated, not scripted.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5F5F5"/>
                </a:solidFill>
                <a:latin typeface="Inter"/>
              </a:rPr>
              <a:t>Ground claims, no hype.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Confidential — Internal prep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JetBrains Mono"/>
              </a:rP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02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60 MINUTES, TROIS EXERCICES CONNECTÉS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Comment le temps va passer.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Account-development mindset informe la discovery. Une histoire, trois preuves.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112014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6616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6B6B6B"/>
                </a:solidFill>
                <a:latin typeface="JetBrains Mono"/>
              </a:rPr>
              <a:t>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7490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JetBrains Mono"/>
              </a:rPr>
              <a:t>0–25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703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Greenfield Pipeline (F100)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02336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Top 5 ranked · deep-dive #1 · stakeholder map · entry &amp; 90 days.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26280"/>
            <a:ext cx="112014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6B6B6B"/>
                </a:solidFill>
                <a:latin typeface="JetBrains Mono"/>
              </a:rPr>
              <a:t>PART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7091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JetBrains Mono"/>
              </a:rPr>
              <a:t>25–50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6634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Mock Discovery — Figma inbound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98348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Marcel Weekes · 650 engs · 85% VS Code · Copilot + Claude Code · 31 shadow Pro.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86400"/>
            <a:ext cx="112014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6B6B6B"/>
                </a:solidFill>
                <a:latin typeface="JetBrains Mono"/>
              </a:rPr>
              <a:t>PART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669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JetBrains Mono"/>
              </a:rPr>
              <a:t>50–60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6235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5"/>
                </a:solidFill>
                <a:latin typeface="Inter"/>
              </a:rPr>
              <a:t>Reflection &amp; Debrief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94360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Top insights · deal hypothesis · 4 strategic questions · self-assessment.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400">
                <a:solidFill>
                  <a:srgbClr val="6B6B6B"/>
                </a:solidFill>
                <a:latin typeface="Inter"/>
              </a:rPr>
              <a:t>PART 1 · GREENFIELD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5F5F5"/>
                </a:solidFill>
                <a:latin typeface="Inter"/>
              </a:rPr>
              <a:t>Fortune 100</a:t>
            </a:r>
          </a:p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5F5F5"/>
                </a:solidFill>
                <a:latin typeface="Inter"/>
              </a:rPr>
              <a:t>from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Show how to create momentum. Top 5 ranked, then deep dive into #1 :</a:t>
            </a:r>
          </a:p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account thesis, stakeholder map, entry sequencing, first 90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JetBrains Mono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1  ·  CRITÈRES DE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04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AVANT LE TOP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Comment je classe une F100 pour Cursor.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Cinq lentilles, pondérées. Toute exception = on cherche pourquoi.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01 · Eng headcount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33756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≥ 5 K ingés pour un deal enterprise pertinent. Plus c'est gros, plus le math ROI parle.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5935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93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02 · AI mandate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959352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Roadmap IA exécutive annoncée → champion réception facilitée, urgence existante.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5371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811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811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03 · Reg / privacy posture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581144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Régulés (finance, santé) = Privacy Mode est un enabler, pas un blocker. Notre edge.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7550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0293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029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04 · Codebase complexité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202936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Legacy + modern + mono / multi repo = large codebase performance pertinent.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9729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2472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247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05 · Procurement 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824728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Équipe dev-tools identifiable + path procurement traçable = vélocité de deal.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1908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1  ·  TOP 5 PROSPECTS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05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GREENFIELD · RANKED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Top 5 Fortune 100 pour Cursor.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Ranking défendable. #1 deep-dive sur la slide suivante.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5584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5"/>
                </a:solidFill>
                <a:latin typeface="JetBrains Mono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558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JPMorgan 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649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~56 K ingés · LLM Suite déjà en prod · régulé = Privacy Mode = enabler · path procurement clair.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4107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E5E5"/>
                </a:solidFill>
                <a:latin typeface="Inter"/>
              </a:rPr>
              <a:t>Plus gros TAM F100 + champion-ready.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04488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0448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14216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5"/>
                </a:solidFill>
                <a:latin typeface="JetBrains Mono"/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1421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Capital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233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~12 K ingés · culture eng-led, rare en F100 · ChatGPT Enterprise déjà acheté · procurement décisive.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0690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E5E5"/>
                </a:solidFill>
                <a:latin typeface="Inter"/>
              </a:rPr>
              <a:t>Vélocité de deal la plus forte.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62856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6285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7258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5"/>
                </a:solidFill>
                <a:latin typeface="JetBrains Mono"/>
              </a:rPr>
              <a:t>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67258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Walmart (Global Tech)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68172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~20 K ingés · CTO Suresh Kumar pousse IA hard · ROI math énorme · Sam's + Walmart.com + Bonobos surface.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7274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E5E5"/>
                </a:solidFill>
                <a:latin typeface="Inter"/>
              </a:rPr>
              <a:t>Gros TAM, brand-effect F100 retail.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21224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22122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30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5"/>
                </a:solidFill>
                <a:latin typeface="JetBrains Mono"/>
              </a:rPr>
              <a:t>#4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3309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Goldman Sachs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340096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~12 K ingés · Marquee, Atlas · AI-first messaging (Solomon) · régulé = même wedge que JPM.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38581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E5E5"/>
                </a:solidFill>
                <a:latin typeface="Inter"/>
              </a:rPr>
              <a:t>High-velocity tech investment.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879592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87959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893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5"/>
                </a:solidFill>
                <a:latin typeface="JetBrains Mono"/>
              </a:rPr>
              <a:t>#5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989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5"/>
                </a:solidFill>
                <a:latin typeface="Inter"/>
              </a:rPr>
              <a:t>Disney (Streaming + Parks)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99846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~10 K ingés · modernisation Disney+ · eng-driven streaming · brand reference massive.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604418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E5E5"/>
                </a:solidFill>
                <a:latin typeface="Inter"/>
              </a:rPr>
              <a:t>Reference customer halo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1  ·  DEEP DIVE · JPMORGAN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06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TOP PROSPECT · ACCOUNT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JPMorgan Chase — why now, where Cursor wins.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5 angles. Tous ont une preuve publique citable.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WHY JPM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~56 K ingés tech.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LLM Suite (interne) déjà rolled out à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200 K+ employés en 2024.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Jamie Dimon mentionne l'IA dans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chaque shareholder letter.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WHY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Pression Mary Erdoes + Daniel Pinto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sur productivité dev.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Copilot déployé mais ROI sous-mesuré.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Auditeurs OCC / Fed regardent les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outils AI sanctionnés.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LEVIERS CURSOR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Velocity (Markets Tech).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Governance (Privacy Mode pour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données régulées).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Onboarding (rotations internes).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Cost (Copilot ne couvre plus le besoin).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FORCES MARCHÉ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Frontier models évoluent vite —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model neutrality est un argument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de résilience.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Claude Code en évaluation chez les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pairs (GS, Citi) → urgence.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1  ·  JPMORGAN ·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07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ENGINEERING ORG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Qui je cible, dans quel ordre, et pourquoi.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Power signals : budget, hiring, public statements, sponsorship d'initiatives 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Dir / VP Dev 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461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Buyer économique des dev tools. Première porte d'entrée.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5E5E5"/>
                </a:solidFill>
                <a:latin typeface="Inter"/>
              </a:rPr>
              <a:t>LinkedIn → cold email avec ROI one-pager + ref customer.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1304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496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496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Mariana Lopes / Larry Feinsmith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849624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Strategic Tech / Innovation. Sponsor possible LLM Suite v2.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84962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5E5E5"/>
                </a:solidFill>
                <a:latin typeface="Inter"/>
              </a:rPr>
              <a:t>Warm intro via Cursor exec ou customer ref. Conférence (QCon).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1655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531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AppSec leadership (sous Pat Opet, CISO)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5312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Gatekeeper. Pas un blocker si Privacy Mode + SOC 2 anticipés.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45312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5E5E5"/>
                </a:solidFill>
                <a:latin typeface="Inter"/>
              </a:rPr>
              <a:t>On les inclut tôt, on envoie SIG + pentest avant de demander.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005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566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566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Lori Beer (Global CIO)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05663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Exec sponsor. Pas en first touch — on l'engage quand on a un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05663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5E5E5"/>
                </a:solidFill>
                <a:latin typeface="Inter"/>
              </a:rPr>
              <a:t>Une fois pilote chiffré : board-level ROI + risk reduction story.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62356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66013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01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Engineers (bottom-up)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660136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Adoption shadow = signal Marcel-style. Free tier monitoring.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660136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E5E5E5"/>
                </a:solidFill>
                <a:latin typeface="Inter"/>
              </a:rPr>
              <a:t>On surveille les signups internes, on identifie un champion IC.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22706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1  ·  JPMORGAN · ENTRY + 90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08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PIPELINE &amp; SEQUENCING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Comment je crée le momentum.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Outreach multi-canal, séquencé, mesurable. 90 jours pour un POC chiffré.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5577840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ENTRY POINTS — séquencés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Cold outbound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74903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Dir DevProd + AppSec, 3 touches/sem, message ROI + 1 ref F100.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5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Warm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25195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Via investor / advisor / customer overlap (Capital One, GS si déjà clients).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7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Conférence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75487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QCon NY, AWS re:Invent, Strange Loop — chasser les talks JPM.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79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Bottom-up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25779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Free tier monitoring → identification d'un champion IC interne.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6071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76071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POV blog : « AI coding in regulated FS » — share organique ciblé.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246120"/>
            <a:ext cx="5440680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246120"/>
            <a:ext cx="54406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FIRST 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4903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JetBrains Mono"/>
              </a:rPr>
              <a:t>J0–J30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749039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Research deep + 3 cold touches/sem + 1 warm intro vise.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Success : 1 meeting Dir DevProd, 1 meeting AppSec.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590287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JetBrains Mono"/>
              </a:rPr>
              <a:t>J30–J60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590287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Discovery + scoping POC.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Success : POC 20 ingés signé sur Markets Tech ou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Corporate Sector.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431535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JetBrains Mono"/>
              </a:rPr>
              <a:t>J60–J90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431535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POC live, Privacy Mode + audit baked-in.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Success : cycle-time + PR + NPS mesurés.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Ready for procurement conversation.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1  ·  JPMORGAN · PILOT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09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INITIAL PILOT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À quoi ressemble le POC chiffré.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Scope serré, métriques pré-définies, security baked-in, sortie de POC = procurement-ready.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20 ingés Markets Tech (high agentic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relevance, multi-repo, complexité élevée).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30 jours.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1 repo de référence + 1 service annexe.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MÉTRIQUES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Cycle time (PR opened → merged)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PR throughput / ingé / semaine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Senior IC adoption rate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NPS engagement à J+15 et J+30.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SECURITY DAY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Privacy Mode obligatoire.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SOC 2 + SIG envoyés J-7.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AppSec dans loop dès le scoping.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Path audit logs validé avant le go-live.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383280"/>
            <a:ext cx="269748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383280"/>
            <a:ext cx="26974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520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EXIT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886200"/>
            <a:ext cx="22402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Cycle-time ↓ ≥ 12 %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NPS ≥ 50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Senior IC adoption ≥ 60 %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→ ouvre la conversation procurement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sur 500–1 000 seats.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400">
                <a:solidFill>
                  <a:srgbClr val="6B6B6B"/>
                </a:solidFill>
                <a:latin typeface="Inter"/>
              </a:rPr>
              <a:t>PART 2 · MOCK DISCOVERY · FIGMA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5F5F5"/>
                </a:solidFill>
                <a:latin typeface="Inter"/>
              </a:rPr>
              <a:t>Marcel Weekes</a:t>
            </a:r>
          </a:p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5F5F5"/>
                </a:solidFill>
                <a:latin typeface="Inter"/>
              </a:rPr>
              <a:t>inbound.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VP Eng · ~650 ingénieurs · 85 % VS Code · Copilot déployé ·</a:t>
            </a:r>
          </a:p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Claude Code en évaluation · 31 Cursor Pro shadow (Privacy Mode mixte).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JetBrains Mono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BRIEF · FIGMA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11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CE QU'ON SAIT AVANT D'ENTRER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Le brief, en 6 faits.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Chaque fait est un levier discovery. On les exploite — pas on les répète.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Marcel Weekes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46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VP of Engineering, leads ~650 engineers.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461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E5E5E5"/>
                </a:solidFill>
                <a:latin typeface="Inter"/>
              </a:rPr>
              <a:t>→ Buyer économique principal. KPI : vélocité, talent.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850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~85 % sur VS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6850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Standard interne dominant.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68503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E5E5E5"/>
                </a:solidFill>
                <a:latin typeface="Inter"/>
              </a:rPr>
              <a:t>→ Cursor = VS Code fork. Drop-in. Muscle memory transfer.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9651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239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GitHub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1239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Déployé sur toute l'équipe.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2394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E5E5E5"/>
                </a:solidFill>
                <a:latin typeface="Inter"/>
              </a:rPr>
              <a:t>→ Baseline connu. « Why change » = quality gap, pas absence d'outil.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3542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Claude Code 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56285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En évaluation active en ce moment.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56285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E5E5E5"/>
                </a:solidFill>
                <a:latin typeface="Inter"/>
              </a:rPr>
              <a:t>→ THE compétiteur. Why now est déjà établi de leur côté.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7433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017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31 Cursor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0017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Shadow usage interne, Privacy Mode mixte.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0017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E5E5E5"/>
                </a:solidFill>
                <a:latin typeface="Inter"/>
              </a:rPr>
              <a:t>→ Or pur. Champion silencieux + risque sécu = leur problème, notre wedge.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41324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406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Inter"/>
              </a:rPr>
              <a:t>Attendees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440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Marcel + Security Eng Leader + Security 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E5E5E5"/>
                </a:solidFill>
                <a:latin typeface="Inter"/>
              </a:rPr>
              <a:t>→ 2/3 sécu. La conversation est sécurité-first, pas velocity-first.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85216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DISCO ·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12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STRUCTURE DU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20–25 minutes, timeboxé.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Marcel parle d'abord. Sécu entre minute 5. Goal = follow-up précis, pas pilote.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0:00 – 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520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Cadrage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Agenda · permission · ancrage sur les 31 Pro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2336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50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1:30 – 9:30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507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05079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Marcel d'abord, Sécurité à partir de 5:00.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5371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8114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9:30 – 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58114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Thèse + 1 proof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5811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Why now (urgence eux) · why Cursor (vs Claude Code).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8406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114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13:00 – 17:00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11149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Sécurité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11149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Privacy Mode 3 bullets + SOC 2. J'ouvre, pas eux.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61441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4184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17:00 – 20:00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6418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Next step précis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6418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Follow-up nommé : qui, quand, pour quoi faire.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14476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DISCO · OPENER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13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LES 90 PREMIÈRES SECONDES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Script d'ouverture.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Préparation visible (nom, faits) · pas de pitch · pré-engagement sur l'agenda.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201400" cy="2971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6B6B6B"/>
                </a:solidFill>
                <a:latin typeface="Georgia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11880"/>
            <a:ext cx="101498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5F5F5"/>
                </a:solidFill>
                <a:latin typeface="Inter"/>
              </a:rPr>
              <a:t>Marcel, merci pour ces 20 minutes — et merci à [Security Eng Lead] et [Sec team member] de vous être joints, c'est exactement la configuration la plus utile pour cette conversation. Avant de commencer : j'ai noté que 31 de vos ingénieurs sont déjà sur Cursor Pro en mode mixte. Plutôt que de pitcher, je préfère partir de cette réalité — comprendre ce que vous en voyez en interne, ce qui pousse l'évaluation Claude Code en parallèle, et où vous voulez emmener tout ça à 6 mois. Je vais passer le plus clair du temps à poser des questions. Goal côté Cursor : un follow-up précis et utile, pas un pitch. Ça vous va comme cadrage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80">
                <a:solidFill>
                  <a:srgbClr val="6B6B6B"/>
                </a:solidFill>
                <a:latin typeface="Inter"/>
              </a:rPr>
              <a:t>EFFETS — préparation visible (31 Pro, Claude Code) · self-aware (pas de pitch) · pré-engagement · sécu impliquée dès le mot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DISCO · MARCEL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14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8 MINUTES · VP OF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Questions ancrées sur les faits.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Chaque question pointe un fait connu. Pas de question générique.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Origine du shadow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4612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5E5E5"/>
                </a:solidFill>
                <a:latin typeface="Inter"/>
              </a:rPr>
              <a:t>« 31 ingés sur Cursor Pro — comment c'est arrivé, et qu'est-ce qu'ils en disent quand vous leur demandez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6576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→ Bottom-up signal. Si Marcel l'ignorait, c'est un trou de visibilité = wedge.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5079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507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507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Pressure-test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50792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5E5E5"/>
                </a:solidFill>
                <a:latin typeface="Inter"/>
              </a:rPr>
              <a:t>« Qu'est-ce qui vous a fait regarder Claude Code maintenant plutôt qu'il y a 6 mois, et qu'est-ce que vous attendez d'un éventuel switch ?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6227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→ Le « why now » est ici. On laisse Marcel le formuler à notre place.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5546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5546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554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Gap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855464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5E5E5"/>
                </a:solidFill>
                <a:latin typeface="Inter"/>
              </a:rPr>
              <a:t>« Copilot est déployé wall-to-wall — quel est le travail qui devrait être assisté et ne l'est pas aujourd'hui ?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26694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→ Refactos · large context · review. Là où Cursor a un edge tangible.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6013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66013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01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Senior IC opt-out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660136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5E5E5"/>
                </a:solidFill>
                <a:latin typeface="Inter"/>
              </a:rPr>
              <a:t>« Les seniors et les juniors utilisent Copilot pareil ? Y a-t-il un tier qui a discrètement décroché ? 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6071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→ Senior opt-out = plafond ROI ~5 %. Notre meilleure preuve de gap.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6480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DISCO ·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15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EMBARQUER LA SÉCURITÉ (2/3 ATTENDEES)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Questions sécurité ancrées sur le shadow Cursor.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Le sujet est déjà sur leur table — 31 Pro users en mode mixte. On le nomme.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Shadow Cursor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4612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5E5E5"/>
                </a:solidFill>
                <a:latin typeface="Inter"/>
              </a:rPr>
              <a:t>« Les 31 utilisateurs Pro avec Privacy Mode mixte — ça a déclenché un review interne, ou pas encore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947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→ Pose la réalité du risque actuel sans la dramatiser.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06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336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336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Critères de sanction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33672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5E5E5"/>
                </a:solidFill>
                <a:latin typeface="Inter"/>
              </a:rPr>
              <a:t>« Qu'est-ce qu'un outil IA de code doit prouver pour être sanctionné chez Figma — au-delà de SOC 2 ?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78231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→ Audit logs ? Data residency ? BYO-key ? On note pour anticiper.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9379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212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JetBrains Mono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212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Posture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221224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5E5E5"/>
                </a:solidFill>
                <a:latin typeface="Inter"/>
              </a:rPr>
              <a:t>« Comment l'évaluation Claude Code se passe côté sécurité — qu'est-ce que vous regardez en parallèle de la capacité produit ?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76986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→ Donne le terrain de comparaison. Privacy Mode est un argument différenciateur.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18134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WHY CURSOR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16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TROIS ANGLES QUI MATCHENT LEUR RÉALITÉ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Pourquoi Cursor — calibré pour ce dossier précis.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On reprend les 4 différenciateurs officiels et on les zoom sur Figma.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83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VS Code fork = drop-in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401568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85 % de l'équipe est déjà sur VS Code. Muscle memory, extensions, keymaps, settings transfèrent. Coût d'adoption ≈ 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605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Large codebase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Éditeur C++/WASM + infra Rust/TS = repo complexe. C'est exactement le terrain où Cursor surperforme — semantic search, indexing, retrieval.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0060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9377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Model neutrality vs Claude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956048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Claude Code = Anthropic-locked. Cursor donne accès au SOTA en continu — vous ne pariez pas la prochaine année sur un seul provider.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77840"/>
            <a:ext cx="11201400" cy="7132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5778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150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6B6B"/>
                </a:solidFill>
                <a:latin typeface="JetBrains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5"/>
                </a:solidFill>
                <a:latin typeface="Inter"/>
              </a:rPr>
              <a:t>Platform, not just a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733288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Plan · write · review · debug · iterate dans un seul environnement. Pas un CLI à côté de l'IDE. Workflow integration &gt; intelligence brute.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SÉCURITÉ · PRIVACY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17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MINUTE 13 — JE L'OUVRE MOI-MÊME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Le sujet est déjà chez eux. On le tranche.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31 Pro users en Privacy Mode mixte = le risque est déjà réel. Voici comment Cursor le règle.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B6B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5F5F5"/>
                </a:solidFill>
                <a:latin typeface="Inter"/>
              </a:rPr>
              <a:t>Code non-stocké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461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Customer code is not stored or retained — c'est contractuel, pas un toggle.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679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B6B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6791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5F5F5"/>
                </a:solidFill>
                <a:latin typeface="Inter"/>
              </a:rPr>
              <a:t>Pas d'entraînement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867912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Code is not used to train models — ni les nôtres, ni ceux des providers tiers.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6227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897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B6B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8970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5F5F5"/>
                </a:solidFill>
                <a:latin typeface="Inter"/>
              </a:rPr>
              <a:t>Requêtes éphémères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489704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Requests are isolated and ephemeral — pas de log persistant des prompts.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8406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114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B6B"/>
                </a:solidFill>
                <a:latin typeface="JetBrain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114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5F5F5"/>
                </a:solidFill>
                <a:latin typeface="Inter"/>
              </a:rPr>
              <a:t>Enterprise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11149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SOC 2 · contrôles admin · visibilité · SSO. Call security ↔ security sous 7 jours.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0585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7332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B6B"/>
                </a:solidFill>
                <a:latin typeface="JetBrains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332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5F5F5"/>
                </a:solidFill>
                <a:latin typeface="Inter"/>
              </a:rPr>
              <a:t>Conversion shadow → sanctionné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733288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0A0A0"/>
                </a:solidFill>
                <a:latin typeface="Inter"/>
              </a:rPr>
              <a:t>Les 31 Pro users actuels peuvent basculer en Privacy Mode mandaté en &lt; 1 jour.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2764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DISCO ·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18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MINUTE 17 — LA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Goal de l'exercice : un follow-up précis.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Pas un pilote. Pas un « on se rappelle ». Un meeting nommé, daté, avec un purpose.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201400" cy="23774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FOLLOW-UP PROPOSÉ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F5F5"/>
                </a:solidFill>
                <a:latin typeface="Inter"/>
              </a:rPr>
              <a:t>60 min, sous 10 jours — Cursor SE + Cursor Security ↔ Figma DevEx + AppSec.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Purpose : (1) scoping technique d'un POC 20–30 ingés sur un repo nommé, métriques pré-définies,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Privacy Mode mandaté ; (2) review sécu parallèle (SIG, pentest, archi, DPA envoyés J-7).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PHRASE À DIRE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179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5E5"/>
                </a:solidFill>
                <a:latin typeface="Inter"/>
              </a:rPr>
              <a:t>« Marcel, ça vaut le coup qu'on bloque 60 min sous 10 jours, vous + sécu + nos équivalents ? Je vous envoie le draft d'agenda dans la journée. 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400">
                <a:solidFill>
                  <a:srgbClr val="6B6B6B"/>
                </a:solidFill>
                <a:latin typeface="Inter"/>
              </a:rPr>
              <a:t>PART 3 · REFLECTION &amp;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5F5F5"/>
                </a:solidFill>
                <a:latin typeface="Inter"/>
              </a:rPr>
              <a:t>10 minutes.</a:t>
            </a:r>
          </a:p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5F5F5"/>
                </a:solidFill>
                <a:latin typeface="Inter"/>
              </a:rPr>
              <a:t>Structured thinking.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2–3 min silencieuses pour rassembler. Puis : top insights · deal hypothesis ·</a:t>
            </a:r>
          </a:p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A0A0A0"/>
                </a:solidFill>
                <a:latin typeface="Inter"/>
              </a:rPr>
              <a:t>questions stratégiques · risks · self-assessment.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JetBrains Mono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3  ·  DEBRIEF ·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20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À REMPLIR PENDANT LES 2 MIN SILENCIEUSES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Top 3–5 insights + hypothèse de deal.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Format : un insight = un fait observé en disco + ce qu'il déclenche.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694944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69494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TOP INSIGHTS (à formuler en live)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1. Marcel sait pour les 31 ? → si oui, champion potentiel ; si non, trou de visibilité.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2. Claude Code = vrai eval ou veille ? → urgence réelle ou parking.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3. Senior IC opt-out sur Copilot ? → preuve de gap quality, pas absence d'outil.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035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4. Posture sécu : bloquant ou facilitant ? → vitesse de deal.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5. Budget pré-alloué ? → délai de signature 3 mois vs 9 mois.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246120"/>
            <a:ext cx="4069080" cy="32004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3246120"/>
            <a:ext cx="40690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DEAL 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749039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Setup typique :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• Urgence moyenne (Claude Code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   est en eval, pas en décision)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• Champion à confirmer (Marcel ?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   ou un staff IC sur les 31 Pro ?)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• Sécu = vraie variable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   (deal-maker ou deal-killer)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• Deal réaliste : POC à 60 j,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5F5F5"/>
                </a:solidFill>
                <a:latin typeface="Inter"/>
              </a:rPr>
              <a:t>   500–650 seats à 6–9 mois.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3  ·  DEBRIEF · QUESTIONS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21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LES 4 QUESTIONS DU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Réponses préparées — à reformuler à chaud.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Ne pas réciter. Reformuler avec ce qu'on aura entendu en disco.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Pourquoi Figma a besoin d'une solution IA coding — Cursor ou pas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650 ingés sur du C++/WASM + Rust + TS = travail à haute complexité. Sans levier IA structuré, le talent senior va chercher la productivité ailleurs (interne ou externe).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41648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4164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Que se passe-t-il s'ils ne font rien pendant 3–6 mois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074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Shadow Cursor monte de 31 à 100+. Claude Code peut-être déployé sans gouvernance. Le coût n'est pas l'outil — c'est la sécurité non-contrôlée + patterns figés sur Copilot.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82896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828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8289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Y a-t-il un champion crédible ? Preuves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4865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À tester : Marcel sait-il pour les 31 ? Un staff IC parmi eux est-il identifiable ? Champion = quelqu'un qui défend le deal quand on n'est pas dans la salle.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724144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7241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2414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5F5F5"/>
                </a:solidFill>
                <a:latin typeface="Inter"/>
              </a:rPr>
              <a:t>Comment Cursor est-il uniquement positionné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VS Code fork (drop-in pour 85 % de l'équipe) + model neutrality (vs Claude Code) + large codebase performance (vs Copilot) + Privacy Mode (vs shadow actuel).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3  ·  DEBRIEF · RISKS + SELF-ASSESS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22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ANTICIPER, PUIS SE CRITIQUER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Risks attendus + qu'est-ce que je changerais.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Self-aware &gt; overconfident. Nommer les fragilités avant qu'on les pointe.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557784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DEAL RISKS ANTICIPÉS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Compétition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794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L'eval peut conclure « assez bon » avant qu'on ait livré le POC.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Sécurité bloquante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97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Si AppSec n'est pas adressé J0, le pilote glisse de 3 mois.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Politique interne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8006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Copilot a un sponsor org — switch perçu comme un échec interne.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Sprawl outils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3035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Cursor + Copilot + Claude Code en parallèle = personne ne décide.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5F5"/>
                </a:solidFill>
                <a:latin typeface="Inter"/>
              </a:rPr>
              <a:t>Procurement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806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Vendor risk review + DPA = 60–90 j incompressibles.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246120"/>
            <a:ext cx="5440680" cy="32004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246120"/>
            <a:ext cx="54406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SELF-ASSESSMENT (template)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5F5"/>
                </a:solidFill>
                <a:latin typeface="Inter"/>
              </a:rPr>
              <a:t>Ce qui a marché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148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Ouvrir sur les 31 Pro = preuve de prep.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Laisser Marcel formuler le « why now 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63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5F5"/>
                </a:solidFill>
                <a:latin typeface="Inter"/>
              </a:rPr>
              <a:t>Ce que je changerais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83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Plus de temps sur les use-cases concrets (refactos vs review).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Pousser plus tôt sur le budget.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5F5"/>
                </a:solidFill>
                <a:latin typeface="Inter"/>
              </a:rPr>
              <a:t>Greenfield → disco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8521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Account thesis nourrit les questions ciblées.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0A0A0"/>
                </a:solidFill>
                <a:latin typeface="Inter"/>
              </a:rPr>
              <a:t>Faits connus = wedges, pas accessoires.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PART 2  ·  ANTI-BLANK · PHRASES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23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QUAND ON PERD LE 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6 phrases à dire mot pour mot.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Reprendre la main sans pitcher. Garder l'executive presence sous pression.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B6B6B"/>
                </a:solidFill>
                <a:latin typeface="Inter"/>
              </a:rPr>
              <a:t>SI LE SILENCE DURE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3872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5E5"/>
                </a:solidFill>
                <a:latin typeface="Inter"/>
              </a:rPr>
              <a:t>« Je préfère vous laisser le temps — c'est votre conversation.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4612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B6B6B"/>
                </a:solidFill>
                <a:latin typeface="Inter"/>
              </a:rPr>
              <a:t>SI ON TAPE SUR CURSOR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3872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5E5"/>
                </a:solidFill>
                <a:latin typeface="Inter"/>
              </a:rPr>
              <a:t>« C'est un retour fair — voilà ce qu'on fait bien, voilà où on n'est pas le meilleur.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B6B6B"/>
                </a:solidFill>
                <a:latin typeface="Inter"/>
              </a:rPr>
              <a:t>SI ON DEMANDE UN CHIFFRE QU'ON 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4456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5E5"/>
                </a:solidFill>
                <a:latin typeface="Inter"/>
              </a:rPr>
              <a:t>« Je ne veux pas inventer — je vous reviens dans la journée avec la vraie réponse.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5196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B6B6B"/>
                </a:solidFill>
                <a:latin typeface="Inter"/>
              </a:rPr>
              <a:t>POUR PRESSURE-TEST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54456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5E5"/>
                </a:solidFill>
                <a:latin typeface="Inter"/>
              </a:rPr>
              <a:t>« Qu'est-ce qui devrait être vrai pour que ce soit un non ?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B6B6B"/>
                </a:solidFill>
                <a:latin typeface="Inter"/>
              </a:rPr>
              <a:t>POUR PASSER À LA SÉCU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5040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5E5"/>
                </a:solidFill>
                <a:latin typeface="Inter"/>
              </a:rPr>
              <a:t>« Avant qu'on aille plus loin, je veux ouvrir la sécu — c'est là où ça se joue.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25780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B6B6B"/>
                </a:solidFill>
                <a:latin typeface="Inter"/>
              </a:rPr>
              <a:t>POUR CLORE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55040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5E5"/>
                </a:solidFill>
                <a:latin typeface="Inter"/>
              </a:rPr>
              <a:t>« Une question avant qu'on bloque le follow-up : qu'est-ce que j'aurais dû demander ? 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">
                <a:solidFill>
                  <a:srgbClr val="F5F5F5"/>
                </a:solidFill>
                <a:latin typeface="Inter"/>
              </a:rPr>
              <a:t>●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6B6B6B"/>
                </a:solidFill>
                <a:latin typeface="Inter"/>
              </a:rPr>
              <a:t>META · CANDIDATE-ONLY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B6B6B"/>
                </a:solidFill>
                <a:latin typeface="Inter"/>
              </a:rPr>
              <a:t>Cursor Enterprise — PG + Disco Challenge  ·  Prep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50">
                <a:solidFill>
                  <a:srgbClr val="6B6B6B"/>
                </a:solidFill>
                <a:latin typeface="JetBrains Mono"/>
              </a:rPr>
              <a:t>24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20140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6B6B6B"/>
                </a:solidFill>
                <a:latin typeface="Inter"/>
              </a:rPr>
              <a:t>À MASQUER PENDANT L'EXERCICE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F5F5"/>
                </a:solidFill>
                <a:latin typeface="Inter"/>
              </a:rPr>
              <a:t>Ce qui est vraiment évalué.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Six dimensions, explicites dans le prompt. À émettre activement les 60 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557784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57784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CE QUI EST ÉVALUÉ (du prompt)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Strategic thinking &amp; account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Enterprise stakeholder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Ability to CREATE urgency (not just respond)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Quality + sequencing of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Executive presence &amp; clarity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52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5E5"/>
                </a:solidFill>
                <a:latin typeface="Inter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5F5F5"/>
                </a:solidFill>
                <a:latin typeface="Inter"/>
              </a:rPr>
              <a:t>Structured thinking in debrief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246120"/>
            <a:ext cx="5440680" cy="32004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246120"/>
            <a:ext cx="5440680" cy="63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Inter"/>
              </a:rPr>
              <a:t>SIGNAUX (du doc Cursor)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49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E5E5E5"/>
                </a:solidFill>
                <a:latin typeface="Inter"/>
              </a:rPr>
              <a:t>FORTS — à émettre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023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● Prepared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97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● Self-aware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572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● Composed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463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● Tactically sharp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1206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5"/>
                </a:solidFill>
                <a:latin typeface="Inter"/>
              </a:rPr>
              <a:t>● Coachable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486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6B6B6B"/>
                </a:solidFill>
                <a:latin typeface="Inter"/>
              </a:rPr>
              <a:t>FAIBLES — à éviter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760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6B6B"/>
                </a:solidFill>
                <a:latin typeface="Inter"/>
              </a:rPr>
              <a:t>○ Feature dump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60167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6B6B"/>
                </a:solidFill>
                <a:latin typeface="Inter"/>
              </a:rPr>
              <a:t>○ AI hype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6272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6B6B"/>
                </a:solidFill>
                <a:latin typeface="Inter"/>
              </a:rPr>
              <a:t>○ Overconfident sans grounding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