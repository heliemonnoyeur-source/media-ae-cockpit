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8E867B"/>
                </a:solidFill>
                <a:latin typeface="Inter"/>
              </a:rPr>
              <a:t>PG + DISCO CHALLENGE · 60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23160"/>
            <a:ext cx="804672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1F1B16"/>
                </a:solidFill>
                <a:latin typeface="Inter"/>
              </a:rPr>
              <a:t>Cursor Enterprise</a:t>
            </a:r>
          </a:p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1F1B16"/>
                </a:solidFill>
                <a:latin typeface="Inter"/>
              </a:rPr>
              <a:t>Pipeline + Discovery.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72000"/>
            <a:ext cx="7315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Cursor wins on workflow, context, and execution.</a:t>
            </a:r>
          </a:p>
          <a:p>
            <a:pPr algn="l">
              <a:lnSpc>
                <a:spcPct val="140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~70% of the Fortune 1000 already use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0116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377440"/>
            <a:ext cx="4114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200000"/>
              </a:lnSpc>
            </a:pPr>
            <a:r>
              <a:rPr sz="1300" b="0" i="0">
                <a:solidFill>
                  <a:srgbClr val="1F1B16"/>
                </a:solidFill>
                <a:latin typeface="Inter"/>
              </a:rPr>
              <a:t>P1 · Greenfield (Spain &amp; Italy)  (20–25')</a:t>
            </a:r>
          </a:p>
          <a:p>
            <a:pPr algn="l">
              <a:lnSpc>
                <a:spcPct val="200000"/>
              </a:lnSpc>
            </a:pPr>
            <a:r>
              <a:rPr sz="1300" b="0" i="0">
                <a:solidFill>
                  <a:srgbClr val="1F1B16"/>
                </a:solidFill>
                <a:latin typeface="Inter"/>
              </a:rPr>
              <a:t>P2 · Mock Disco Figma  (20–25')</a:t>
            </a:r>
          </a:p>
          <a:p>
            <a:pPr algn="l">
              <a:lnSpc>
                <a:spcPct val="200000"/>
              </a:lnSpc>
            </a:pPr>
            <a:r>
              <a:rPr sz="1300" b="0" i="0">
                <a:solidFill>
                  <a:srgbClr val="1F1B16"/>
                </a:solidFill>
                <a:latin typeface="Inter"/>
              </a:rPr>
              <a:t>P3 · Reflection &amp; Debrief  (10–15')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5029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POSTURE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534924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1B16"/>
                </a:solidFill>
                <a:latin typeface="Inter"/>
              </a:rPr>
              <a:t>Discovery &gt; pitch.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1B16"/>
                </a:solidFill>
                <a:latin typeface="Inter"/>
              </a:rPr>
              <a:t>Opinionated, not scripted.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1B16"/>
                </a:solidFill>
                <a:latin typeface="Inter"/>
              </a:rPr>
              <a:t>Ground claims, no hype.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Confidential — Internal prep 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E867B"/>
                </a:solidFill>
                <a:latin typeface="JetBrains Mono"/>
              </a:rPr>
              <a:t>01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02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60 MINUTES, THREE CONNECTED EXERCISES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How the time will be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Account-development mindset informs discovery. One story, three proofs.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566160"/>
            <a:ext cx="11201400" cy="86868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56616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4904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8E867B"/>
                </a:solidFill>
                <a:latin typeface="JetBrains Mono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7490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JetBrains Mono"/>
              </a:rPr>
              <a:t>0–25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703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1B16"/>
                </a:solidFill>
                <a:latin typeface="Inter"/>
              </a:rPr>
              <a:t>Greenfield Pipeline (Spain &amp; Italy)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02336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Top 5 ranked · deep-dive #1 · stakeholder map · entry &amp; 90 days.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26280"/>
            <a:ext cx="11201400" cy="86868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52628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8E867B"/>
                </a:solidFill>
                <a:latin typeface="JetBrains Mono"/>
              </a:rPr>
              <a:t>PART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7091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JetBrains Mono"/>
              </a:rPr>
              <a:t>25–50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6634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1B16"/>
                </a:solidFill>
                <a:latin typeface="Inter"/>
              </a:rPr>
              <a:t>Mock Discovery — Figma inbound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98348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Marcel Weekes · 650 engs · 85% VS Code · Copilot + Claude Code · 31 shadow Pro.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486400"/>
            <a:ext cx="11201400" cy="86868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6692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8E867B"/>
                </a:solidFill>
                <a:latin typeface="JetBrains Mono"/>
              </a:rPr>
              <a:t>PART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566928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JetBrains Mono"/>
              </a:rPr>
              <a:t>50–60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56235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1B16"/>
                </a:solidFill>
                <a:latin typeface="Inter"/>
              </a:rPr>
              <a:t>Reflection &amp; Debrief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94360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Top insights · deal hypothesis · 4 strategic questions · self-assessment.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8E867B"/>
                </a:solidFill>
                <a:latin typeface="Inter"/>
              </a:rPr>
              <a:t>PART 1 · GREENFIELD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6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1F1B16"/>
                </a:solidFill>
                <a:latin typeface="Inter"/>
              </a:rPr>
              <a:t>Spain &amp; Italy</a:t>
            </a:r>
          </a:p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1F1B16"/>
                </a:solidFill>
                <a:latin typeface="Inter"/>
              </a:rPr>
              <a:t>from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6344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Iberia + Italy GTM. Top 5 ranked, deep dive on Santander:</a:t>
            </a:r>
          </a:p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account thesis, stakeholder map, entry sequencing, first 90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E867B"/>
                </a:solidFill>
                <a:latin typeface="JetBrains Mono"/>
              </a:rP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1  ·  RANKING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04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BEFORE THE TOP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How I rank an ENT account in Spain &amp; Italy.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Five lenses, weighted. Any exception — I find out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375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37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01 · Eng headcount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337560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≥ 5K engineers for a meaningful enterprise deal. The bigger, the louder ROI math gets.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3192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593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5935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02 · Public AI mandate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959352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Executive-announced AI roadmap → easier champion uptake, urgency already exists.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5371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58114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811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03 · Reg / privacy posture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581144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EU regulated (DORA, EU AI Act, ECB) = Privacy Mode = enabler, not blocker. Our edge.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7550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20293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029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04 · Codebase complexity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02936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Legacy + modern + mono/multi-repo = large codebase performance becomes pivotal.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9729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82472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8247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05 · Procurement reach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824728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Identifiable dev-tools team + traceable procurement path = deal velocity.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1908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1  ·  TOP 5 PROSPECTS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05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GREENFIELD · RANKED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Top 5 — Spain &amp; Italy GTM.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Defensible ranking. Santander as #1 → deep-dive on the next 4 slides.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603504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5584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1B16"/>
                </a:solidFill>
                <a:latin typeface="JetBrains Mono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3558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1B16"/>
                </a:solidFill>
                <a:latin typeface="Inter"/>
              </a:rPr>
              <a:t>Santander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36499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~15–20K tech · 'One Transformation' under Dirk Marzluf · multi-jurisdiction regulated · Openbank = digital-native wedge.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341071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3A332C"/>
                </a:solidFill>
                <a:latin typeface="Inter"/>
              </a:rPr>
              <a:t>Largest Iberia TAM + champion-ready.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04488"/>
            <a:ext cx="11201400" cy="603504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0448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14216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1B16"/>
                </a:solidFill>
                <a:latin typeface="JetBrains Mono"/>
              </a:rPr>
              <a:t>#2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01421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1B16"/>
                </a:solidFill>
                <a:latin typeface="Inter"/>
              </a:rPr>
              <a:t>BBVA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0233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~10K tech · ChatGPT Enterprise already rolled out org-wide · 'born digital' under Carlos Torres.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06908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3A332C"/>
                </a:solidFill>
                <a:latin typeface="Inter"/>
              </a:rPr>
              <a:t>AI-ready buyer, strong deal velocity.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62856"/>
            <a:ext cx="11201400" cy="603504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6285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672584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1B16"/>
                </a:solidFill>
                <a:latin typeface="JetBrains Mono"/>
              </a:rPr>
              <a:t>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67258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1B16"/>
                </a:solidFill>
                <a:latin typeface="Inter"/>
              </a:rPr>
              <a:t>Enel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468172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~15K tech · energy transition = urgency · OpenInnovability AI lab · mature CISO function.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7274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3A332C"/>
                </a:solidFill>
                <a:latin typeface="Inter"/>
              </a:rPr>
              <a:t>Largest Italy TAM.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221224"/>
            <a:ext cx="11201400" cy="603504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22122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3095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1B16"/>
                </a:solidFill>
                <a:latin typeface="JetBrains Mono"/>
              </a:rPr>
              <a:t>#4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33095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1B16"/>
                </a:solidFill>
                <a:latin typeface="Inter"/>
              </a:rPr>
              <a:t>EssilorLuxottica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534009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~5–7K tech / 190K total · Industry 4.0 + e-commerce push · regulated (medical devices).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5385816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3A332C"/>
                </a:solidFill>
                <a:latin typeface="Inter"/>
              </a:rPr>
              <a:t>FR/IT footprint, industrial leverage.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879592"/>
            <a:ext cx="11201400" cy="603504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87959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9893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1B16"/>
                </a:solidFill>
                <a:latin typeface="JetBrains Mono"/>
              </a:rPr>
              <a:t>#5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59893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1B16"/>
                </a:solidFill>
                <a:latin typeface="Inter"/>
              </a:rPr>
              <a:t>El Corte Inglés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998464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~2–3K tech · e-commerce + supply chain transformation under Marta Álvarez · less crowded.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6044184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3A332C"/>
                </a:solidFill>
                <a:latin typeface="Inter"/>
              </a:rPr>
              <a:t>Less competitive crowding, accessible.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1  ·  DEEP DIVE · SANTANDER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06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TOP PROSPECT · ACCOUNT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Santander — why now, where Cursor wins.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4 angles. Every one has a public, citable proof point.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WHY SANTANDER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~15–20K tech (Santander Global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T&amp;O + Openbank + Cardinal).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Ana Botín references AI on every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earnings call.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OpenAI + Google Cloud partnerships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announced in 2024.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WHY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'One Transformation' T&amp;O launched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2024 under Dirk Marzluf.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BBVA deployed ChatGPT Enterprise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org-wide → direct competitive pressure.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DORA + EU AI Act = AI governance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urgency.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CURSOR LEVERS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Velocity (Openbank, digital-native).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Governance (Privacy Mode for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ECB / BoE / Fed).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Onboarding (rotations across 10+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countries).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Cost (lower IT spend / revenue ratio).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MARKET FORCES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AI talent costly in Iberia →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tool = hiring &amp; retention lever.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Model neutrality = resilience vs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EU sovereign-AI ecosystem.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Claude Code being evaluated at EU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peers (ING, BNP).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1  ·  SANTANDER ·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07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ENGINEERING ORG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Who I target, in what order, and why.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Power signals: T&amp;O budget, T&amp;O hiring in Madrid/London, sponsorship of board-level AI initiatives.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46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Openbank CTO + Head of 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4612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Wedge #1. Digital-native subsidiary, autonomous, shorter procurement.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2461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3A332C"/>
                </a:solidFill>
                <a:latin typeface="Inter"/>
              </a:rPr>
              <a:t>Cold + LinkedIn. Message: '30-day pilot on one squad, metrics pre-defined.'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1304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8496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8496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VP / Director of Developer Productivity — Santander T&amp;O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849624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Economic buyer at Group level. Owns the dev tools budget.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84962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3A332C"/>
                </a:solidFill>
                <a:latin typeface="Inter"/>
              </a:rPr>
              <a:t>Warm intro via Madrid tech community + EU bank reference customer.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1655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5312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45312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AppSec leadership (under the Group CISO)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453128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Gatekeeper. Not a blocker if Privacy Mode + SOC 2 + DORA-aligned anticipated.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45312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3A332C"/>
                </a:solidFill>
                <a:latin typeface="Inter"/>
              </a:rPr>
              <a:t>Include them early, send SIG + pentest + DPA before asking.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2005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05663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0566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Dirk Marzluf (Group Head of T&amp;O)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056632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Executive sponsor. Not first-touch — engaged once we have a quantified POC.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5056632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3A332C"/>
                </a:solidFill>
                <a:latin typeface="Inter"/>
              </a:rPr>
              <a:t>Once POC live: board-level ROI + risk reduction narrative.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62356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66013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013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Engineers (bottom-up)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5660136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Shadow adoption = Marcel-style signal. Free-tier monitoring on @santander.com.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5660136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3A332C"/>
                </a:solidFill>
                <a:latin typeface="Inter"/>
              </a:rPr>
              <a:t>Track signups, identify a staff IC champion in Madrid.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622706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1  ·  SANTANDER · ENTRY + 90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08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PIPELINE &amp; SEQUENCING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How I create momentum.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Multi-channel, sequenced, measurable outreach. 90 days to a quantified Openbank POC.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577840" cy="32461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57784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ENTRY POINTS — sequenced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3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Openbank-first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74903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Digital-native wedge. Target Openbank CTO + Head of Eng. Shorter procurement.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5195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Cold outbound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425195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Dir DevProd Santander T&amp;O + AppSec, 3 touches/week, ROI + EU bank reference.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7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Warm intro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75487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Madrid tech community (South Summit, Endeavor, Wayra alumni). Small world.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25779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Conference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525779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South Summit Madrid · Money 20/20 Europe · DevOpsCon Madrid.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6071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Bottom-up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576071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Free-tier monitoring on @santander.com → IC champion in Madrid/Boston.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246120"/>
            <a:ext cx="5440680" cy="32461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3246120"/>
            <a:ext cx="54406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FIRST 90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74903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JetBrains Mono"/>
              </a:rPr>
              <a:t>D0–D30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749039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Research Openbank + Santander T&amp;O.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3 cold touches/week + 1 warm intro Madrid.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Success: 1 mtg Openbank CTO, 1 mtg AppSec.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590287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JetBrains Mono"/>
              </a:rPr>
              <a:t>D30–D60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4590287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Discovery Openbank + parallel T&amp;O intro.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Success: 20–30-engineer POC signed on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one Openbank squad (mobile or backend).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43153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JetBrains Mono"/>
              </a:rPr>
              <a:t>D60–D90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5431535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POC live, Privacy Mode mandated + DORA-aligned.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Success: cycle-time + PR + NPS measured.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Opens Group T&amp;O conversation on 1K+ seats.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1  ·  SANTANDER · PILOT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09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INITIAL PILOT MOTION · OPENBANK WEDGE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What the quantified POC looks like.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Openbank = path of least resistance. Success here opens Group T&amp;O on 1K+ seats.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20–30 Openbank engineers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(digital-native, modern stack,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high velocity).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30 days.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1 mobile or backend squad,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1 reference repo.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Cycle time (PR opened → merged)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PR throughput / engineer / week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Senior IC adoption rate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NPS engagement at D+15 and D+30.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SECURITY DAY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Privacy Mode mandatory.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SOC 2 + SIG sent D-7.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DORA-aligned: audit logs, EU data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residency validated.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Group AppSec in the loop from D0.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EXIT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Cycle-time ↓ ≥ 12%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NPS ≥ 50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Senior IC adoption ≥ 60%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→ opens Group T&amp;O conversation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on Santander Global Tech: 1K–5K seats.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8E867B"/>
                </a:solidFill>
                <a:latin typeface="Inter"/>
              </a:rPr>
              <a:t>PART 2 · MOCK DISCOVERY · FIGMA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6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1F1B16"/>
                </a:solidFill>
                <a:latin typeface="Inter"/>
              </a:rPr>
              <a:t>Marcel Weekes</a:t>
            </a:r>
          </a:p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1F1B16"/>
                </a:solidFill>
                <a:latin typeface="Inter"/>
              </a:rPr>
              <a:t>inbound.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6344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VP Eng · ~650 engineers · 85% VS Code · Copilot deployed ·</a:t>
            </a:r>
          </a:p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Claude Code being evaluated · 31 Cursor Pro shadow users (mixed Privacy Mode).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E867B"/>
                </a:solidFill>
                <a:latin typeface="JetBrains Mono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BRIEF · FIGMA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11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WHAT WE KNOW BEFORE WE WALK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The brief, in 6 facts.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Every fact is a discovery lever. We leverage them — not repeat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Marcel Weekes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2461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VP of Engineering, leads ~650 engineers.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461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A332C"/>
                </a:solidFill>
                <a:latin typeface="Inter"/>
              </a:rPr>
              <a:t>→ Primary economic buyer. KPIs: velocity, talent.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5760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6850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~85% on VS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68503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Dominant internal standard.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685032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A332C"/>
                </a:solidFill>
                <a:latin typeface="Inter"/>
              </a:rPr>
              <a:t>→ Cursor = VS Code fork. Drop-in. Muscle memory transfer.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9651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1239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GitHub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1239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Deployed across the entire team.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12394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A332C"/>
                </a:solidFill>
                <a:latin typeface="Inter"/>
              </a:rPr>
              <a:t>→ Known baseline. 'Why change' = quality gap, not absence of tool.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53542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56285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Claude Code eval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56285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Actively under evaluation right now.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562856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A332C"/>
                </a:solidFill>
                <a:latin typeface="Inter"/>
              </a:rPr>
              <a:t>→ THE competitor. 'Why now' is already established on their 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7433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00176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31 Cursor Pro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500176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Shadow internal usage, mixed Privacy Mode.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5001768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A332C"/>
                </a:solidFill>
                <a:latin typeface="Inter"/>
              </a:rPr>
              <a:t>→ Gold. Silent champion + sec risk = their problem, our wedge.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41324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4406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Attendees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5440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Marcel + Security Eng Leader + Security IC.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4406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A332C"/>
                </a:solidFill>
                <a:latin typeface="Inter"/>
              </a:rPr>
              <a:t>→ 2 of 3 are security. This is a security-first conversation.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85216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DISCO ·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12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CALL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20–25 minutes, timeboxed.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Marcel speaks first. Security joins minute 5. Goal = specific follow-up, not pilot close.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E867B"/>
                </a:solidFill>
                <a:latin typeface="JetBrains Mono"/>
              </a:rPr>
              <a:t>0:00 – 1:30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5204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Framing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35204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Agenda · permission · anchor on the 31 Pro users.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2336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50792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E867B"/>
                </a:solidFill>
                <a:latin typeface="JetBrains Mono"/>
              </a:rPr>
              <a:t>1:30 – 9:30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05079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05079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Marcel first, Security from minute 5.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5371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581144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E867B"/>
                </a:solidFill>
                <a:latin typeface="JetBrains Mono"/>
              </a:rPr>
              <a:t>9:30 – 13:00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458114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Thesis + 1 proof 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5811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Why now (their urgency) · why Cursor (vs Claude Code).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08406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111496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E867B"/>
                </a:solidFill>
                <a:latin typeface="JetBrains Mono"/>
              </a:rPr>
              <a:t>13:00 – 17:00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11149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Security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11149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Privacy Mode 3 bullets + SOC 2. I open it, not them.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61441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64184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E867B"/>
                </a:solidFill>
                <a:latin typeface="JetBrains Mono"/>
              </a:rPr>
              <a:t>17:00 – 20:00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56418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Specific next step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564184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Named follow-up: who, when, what for.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14476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DISCO · OPENER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13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THE FIRST 90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Opening script.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Visible preparation (name, facts) · no pitch · pre-engagement on the agenda.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29718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8E867B"/>
                </a:solidFill>
                <a:latin typeface="Georgia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11880"/>
            <a:ext cx="101498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1F1B16"/>
                </a:solidFill>
                <a:latin typeface="Inter"/>
              </a:rPr>
              <a:t>Marcel, thanks for the 20 minutes — and thanks to [Security Eng Lead] and [Sec team member] for joining, this is exactly the right room for this conversation. Before we start: I noticed 31 of your engineers are already on Cursor Pro in mixed Privacy Mode. Rather than pitching, I'd rather start from that reality — understand what you're seeing internally, what's pulling the Claude Code evaluation in parallel, and where you want all of this to be in 6 months. I'm going to spend most of the time asking questions. My goal on Cursor's side: a specific, useful follow-up, not a pitch. Does that framing work for you?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80">
                <a:solidFill>
                  <a:srgbClr val="8E867B"/>
                </a:solidFill>
                <a:latin typeface="Inter"/>
              </a:rPr>
              <a:t>EFFECTS — visible preparation (31 Pro, Claude Code) · self-aware (no pitch) · pre-engagement · security involved from word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DISCO · MARCEL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14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8 MINUTES · VP OF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Questions anchored on the facts.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Every question points at a known fact. No generic questions.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Origin of shadow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"31 engineers on Cursor Pro — how did that happen, and what do they say when you ask them?"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65760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Bottom-up signal. If Marcel didn't know, that's a visibility gap = wedge.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5079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0507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0507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Pressure-test Claude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050792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"What made you look at Claude Code now rather than 6 months ago, and what would you expect from a switch?"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462272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'Why now' lives here. We let Marcel articulate it for us.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85546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85546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85546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Copilot 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855464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"Copilot is deployed wall-to-wall — what work should be assisted but isn't today?"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26694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Refactors · large context · review. Where Cursor has a tangible edge.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66013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66013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66013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Senior IC opt-out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5660136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"Are senior and junior engineers using Copilot the same way? Is there a tier that's quietly disengaged?"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Senior opt-out = org ROI capped at ~5%. Our strongest gap proof.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6480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DISCO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15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BRING SECURITY IN (2 OF 3 ATTENDEES)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Security questions anchored on the shadow Cursor reality.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The topic is already on their desk — 31 Pro users in mixed Privacy Mode. We name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Shadow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"The 31 Pro users in mixed Privacy Mode — has that triggered an internal review yet, or not?"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9476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Surface the existing risk without dramatizing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206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3367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3367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Sanction criteria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233672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"What does an AI coding tool need to prove to be sanctioned at Figma — beyond SOC 2?"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782312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Audit logs? Data residency? BYO-key? We note it to anticipate.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19379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2212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2122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Claude Code security posture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221224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"How is the Claude Code evaluation going on the security side — what are you looking at alongside product capability?"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76986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Reveals the comparison terrain. Privacy Mode is a differentiated argument.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18134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WHY CURSOR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16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THREE ANGLES THAT MATCH THEIR 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Why Cursor — calibrated for this specific account.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We take the 4 official differentiators and zoom them onto Figma.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713232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8E867B"/>
                </a:solidFill>
                <a:latin typeface="JetBrains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383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VS Code fork = drop-in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40156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85% of the team is already on VS Code. Muscle memory, extensions, keymaps, settings carry over. Adoption cost ≈ 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023360"/>
            <a:ext cx="11201400" cy="713232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02336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605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8E867B"/>
                </a:solidFill>
                <a:latin typeface="JetBrains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605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Large codebase 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17880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C++/WASM editor + Rust/TS infra = complex repo. Exactly where Cursor outperforms — semantic search, indexing, retrieval.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00600"/>
            <a:ext cx="11201400" cy="713232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377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8E867B"/>
                </a:solidFill>
                <a:latin typeface="JetBrains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Model neutrality vs Claude 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495604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Claude Code = Anthropic-locked. Cursor keeps SOTA access flowing — you don't bet the next year on a single provider.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577840"/>
            <a:ext cx="11201400" cy="713232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5778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7150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8E867B"/>
                </a:solidFill>
                <a:latin typeface="JetBrains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Platform, not just a tool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573328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Plan · write · review · debug · iterate in one environment. Not a CLI next to the IDE. Workflow integration &gt; raw intelligence.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SECURITY · PRIVACY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17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MINUTE 13 — I RAISE IT MYSELF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The topic is already with them. We resolve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31 Pro users in mixed Privacy Mode = real existing risk. Here's how Cursor resolves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E867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2461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1B16"/>
                </a:solidFill>
                <a:latin typeface="Inter"/>
              </a:rPr>
              <a:t>Code not retained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46120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Customer code is not stored or retained — contractual, not a toggle.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4048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86791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E867B"/>
                </a:solidFill>
                <a:latin typeface="JetBrains Mon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6791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1B16"/>
                </a:solidFill>
                <a:latin typeface="Inter"/>
              </a:rPr>
              <a:t>No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867912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Code is not used to train models — neither ours, nor third-party providers'.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46227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48970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E867B"/>
                </a:solidFill>
                <a:latin typeface="JetBrains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89704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1B16"/>
                </a:solidFill>
                <a:latin typeface="Inter"/>
              </a:rPr>
              <a:t>Ephemeral requests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489704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Requests are isolated and ephemeral — no persistent prompt logs.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08406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11149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E867B"/>
                </a:solidFill>
                <a:latin typeface="JetBrains Mon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111496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1B16"/>
                </a:solidFill>
                <a:latin typeface="Inter"/>
              </a:rPr>
              <a:t>Enterprise readiness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11149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SOC 2 · admin controls · visibility · SSO. Security ↔ security call within 7 days.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0585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73328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E867B"/>
                </a:solidFill>
                <a:latin typeface="JetBrains Mono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73328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1B16"/>
                </a:solidFill>
                <a:latin typeface="Inter"/>
              </a:rPr>
              <a:t>Shadow → sanctioned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33288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The 31 current Pro users can switch to mandated Privacy Mode in &lt; 1 day.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2764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DISCO ·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18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MINUTE 17 — THE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The exercise goal: a specific follow-up.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Not a pilot. Not a 'let's reconnect.' A named meeting, dated, with a purpose.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237744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PROPOSED FOLLOW-UP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1B16"/>
                </a:solidFill>
                <a:latin typeface="Inter"/>
              </a:rPr>
              <a:t>60 minutes, within 10 days — Cursor SE + Cursor Security ↔ Figma DevEx + AppSec.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Purpose: (1) technical scoping of a 20–30-engineer POC on a named repo, pre-defined metrics,</a:t>
            </a:r>
          </a:p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Privacy Mode mandated; (2) parallel security review (SIG, pentest, architecture, DPA sent D-7).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89788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WHAT TO SAY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1792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"Marcel, is it worth blocking 60 minutes within 10 days — you + security + our counterparts? I'll send you a draft agenda today."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8E867B"/>
                </a:solidFill>
                <a:latin typeface="Inter"/>
              </a:rPr>
              <a:t>PART 3 · REFLECTION &amp; DEBRIEF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6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1F1B16"/>
                </a:solidFill>
                <a:latin typeface="Inter"/>
              </a:rPr>
              <a:t>10 minutes.</a:t>
            </a:r>
          </a:p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1F1B16"/>
                </a:solidFill>
                <a:latin typeface="Inter"/>
              </a:rPr>
              <a:t>Structured thinking.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6344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2–3 silent minutes to gather. Then: top insights · deal hypothesis ·</a:t>
            </a:r>
          </a:p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strategic questions · risks · self-assessment.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E867B"/>
                </a:solidFill>
                <a:latin typeface="JetBrains Mono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3  ·  DEBRIEF ·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20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TO FILL IN DURING THE 2 SILENT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Top 3–5 insights + deal hypothesis.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Format: one insight = one observed fact from discovery + what it triggers.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6949440" cy="32004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694944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TOP INSIGHTS (formulate live)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1. Does Marcel know about the 31? → if yes, potential champion; if no, visibility gap.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976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2. Claude Code = real eval or scouting? → real urgency or parked.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3. Senior IC opt-out on Copilot? → proof of quality gap, not tool absence.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035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4. Security posture: blocking or facilitating? → deal velocity.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5. Pre-allocated budget? → 3-month vs 9-month signature delay.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3246120"/>
            <a:ext cx="4069080" cy="3200400"/>
          </a:xfrm>
          <a:prstGeom prst="rect">
            <a:avLst/>
          </a:prstGeom>
          <a:solidFill>
            <a:srgbClr val="DA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35240" y="3246120"/>
            <a:ext cx="40690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3383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DEAL HYPOTHESIS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49039"/>
            <a:ext cx="3657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Typical setup: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• Medium urgency (Claude Code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   is in eval, not decision)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• Champion TBD (Marcel? or a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   staff IC among the 31 Pro?)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• Security = real variable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   (deal-maker or deal-killer)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• Realistic deal: 60-day POC,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   500–650 seats at 6–9 months.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3  ·  DEBRIEF · STRATEGIC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21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THE 4 QUESTIONS FROM 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Pre-prepared answers — to reformulate live.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Don't recite. Reformulate with what you heard in discovery.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00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004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Why does Figma need an AI coding solution — Cursor or not?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66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650 engineers on C++/WASM + Rust + TS = high-complexity work. Without a structured AI lever, senior talent looks for productivity elsewhere (internal or external).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4164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416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416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What happens if they do nothing for 3–6 months?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0740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Shadow Cursor grows from 31 to 100+. Claude Code may roll out without governance. The cost isn't the tool — it's uncontrolled security + patterns locked on Copilot.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88289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88289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82896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Is there a credible champion? Evidence?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4865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To test: does Marcel know about the 31? Is a staff IC among them identifiable? Champion = someone who defends the deal when we're not in the room.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72414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72414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24144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How is Cursor uniquely positioned?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VS Code fork (drop-in for 85% of the team) + model neutrality (vs Claude Code) + large codebase performance (vs Copilot) + Privacy Mode (vs current shadow usage).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6539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3  ·  DEBRIEF · RISKS + SELF-ASSESS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22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ANTICIPATE, THEN SELF-CRITIQUE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Expected risks + what I would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Self-aware &gt; overconfident. Name the fragilities before they're called 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577840" cy="32004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57784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ANTICIPATED DEAL RISKS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Claude Code competition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7947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Eval may conclude 'good enough' before we ship our POC.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97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Security as blocker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2976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If AppSec isn't addressed D0, pilot slips 3 months.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00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Internal politics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8006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Copilot has an internal sponsor — switch read as a failure.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Tool sprawl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3035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Cursor + Copilot + Claude Code in parallel = no one decides.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Procurement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Vendor risk review + DPA = 60–90 days, non-compressible.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246120"/>
            <a:ext cx="5440680" cy="3200400"/>
          </a:xfrm>
          <a:prstGeom prst="rect">
            <a:avLst/>
          </a:prstGeom>
          <a:solidFill>
            <a:srgbClr val="DA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3246120"/>
            <a:ext cx="54406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SELF-ASSESSMENT (template)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794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1B16"/>
                </a:solidFill>
                <a:latin typeface="Inter"/>
              </a:rPr>
              <a:t>What worked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1148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Opening on the 31 Pro = proof of prep.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Letting Marcel articulate 'why now'.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1B16"/>
                </a:solidFill>
                <a:latin typeface="Inter"/>
              </a:rPr>
              <a:t>What I'd change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More time on concrete use cases (refactors vs review).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Push earlier on budget.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532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1B16"/>
                </a:solidFill>
                <a:latin typeface="Inter"/>
              </a:rPr>
              <a:t>Greenfield → disco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85216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Account thesis fuels targeted questions.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Known facts = wedges, not accessories.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ANTI-BLANK · KEY PHRASES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23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WHEN YOU LOSE THE THREAD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6 phrases to use word-for-word.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Take the wheel back without pitching. Keep executive presence under pressure.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IF SILENCE DRAGS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3872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"I'd rather give you the time — this is your conversation."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24612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IF CURSOR GETS HIT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53872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"Fair feedback — here's what we do well, here's where we're not the best."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IF ASKED A NUMBER YOU DON'T KNOW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4456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"I don't want to make one up — I'll get back to you with the real answer today."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25196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TO PRESSURE-TEST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54456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"What would need to be true for this to be a no?"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578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TO PIVOT TO 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55040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"Before we go further, I want to open security — that's where this gets real."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52578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TO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55040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"One question before we book the follow-up: what should I have asked?"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META · CANDIDATE-ONLY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24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HIDE DURING THE EXERCISE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What is actually being evaluated.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Six dimensions, explicit in the prompt. To project actively across the full 60 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577840" cy="32004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57784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WHAT'S BEING EVALUATED (from prompt)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A332C"/>
                </a:solidFill>
                <a:latin typeface="Inter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947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1B16"/>
                </a:solidFill>
                <a:latin typeface="Inter"/>
              </a:rPr>
              <a:t>Strategic thinking &amp; account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062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A332C"/>
                </a:solidFill>
                <a:latin typeface="Inter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06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1B16"/>
                </a:solidFill>
                <a:latin typeface="Inter"/>
              </a:rPr>
              <a:t>Enterprise stakeholder mapping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A332C"/>
                </a:solidFill>
                <a:latin typeface="Inter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177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1B16"/>
                </a:solidFill>
                <a:latin typeface="Inter"/>
              </a:rPr>
              <a:t>Ability to CREATE urgency (not just respond)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0292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A332C"/>
                </a:solidFill>
                <a:latin typeface="Inter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0292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1B16"/>
                </a:solidFill>
                <a:latin typeface="Inter"/>
              </a:rPr>
              <a:t>Quality + sequencing of 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406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A332C"/>
                </a:solidFill>
                <a:latin typeface="Inter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1B16"/>
                </a:solidFill>
                <a:latin typeface="Inter"/>
              </a:rPr>
              <a:t>Executive presence &amp; clarity of thought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521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A332C"/>
                </a:solidFill>
                <a:latin typeface="Inter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1B16"/>
                </a:solidFill>
                <a:latin typeface="Inter"/>
              </a:rPr>
              <a:t>Structured thinking in debrief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246120"/>
            <a:ext cx="5440680" cy="3200400"/>
          </a:xfrm>
          <a:prstGeom prst="rect">
            <a:avLst/>
          </a:prstGeom>
          <a:solidFill>
            <a:srgbClr val="DA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246120"/>
            <a:ext cx="54406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SIGNALS (from Cursor prep doc)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3A332C"/>
                </a:solidFill>
                <a:latin typeface="Inter"/>
              </a:rPr>
              <a:t>STRONG — to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023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● Prepared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2976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● Self-aware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5720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● Composed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8463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● Tactically sharp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5120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● Coachable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486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WEAK — to avoid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760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8E867B"/>
                </a:solidFill>
                <a:latin typeface="Inter"/>
              </a:rPr>
              <a:t>○ Feature dump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601675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8E867B"/>
                </a:solidFill>
                <a:latin typeface="Inter"/>
              </a:rPr>
              <a:t>○ AI hype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627278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8E867B"/>
                </a:solidFill>
                <a:latin typeface="Inter"/>
              </a:rPr>
              <a:t>○ Overconfident without grounding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