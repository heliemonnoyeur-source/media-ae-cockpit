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400">
                <a:solidFill>
                  <a:srgbClr val="6B6B6B"/>
                </a:solidFill>
                <a:latin typeface="Inter"/>
              </a:rPr>
              <a:t>DISCOVERY ·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7772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5F5F5"/>
                </a:solidFill>
                <a:latin typeface="Inter"/>
              </a:rPr>
              <a:t>Cursor × Figma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5F5F5"/>
                </a:solidFill>
                <a:latin typeface="Inter"/>
              </a:rPr>
              <a:t>CTO &amp; CISO.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Cursor wins on workflow, context, and execution.</a:t>
            </a:r>
          </a:p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~70 % des Fortune 1000 l'utilisent déjà.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OBJECTIFS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560320"/>
            <a:ext cx="4114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→  Lead with discovery, not pitch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→  Earn a technical deep dive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→  Earn a security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937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25780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Opinionated, not scripted.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Ground claims, no AI hype.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Confidential — Internal prep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JetBrains Mono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STRUCTURE DE L'APPEL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20 minutes, timeboxé.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Discipline &gt; improvisation. Le client doit parler 60 % du temps.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0:00 – 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383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Cadrage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383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Agenda, permission, posture humble.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020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1:30 – 9:30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502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9502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CTO d'abord, CISO à partir de 5:00.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5312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1713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9:30 – 14:00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5171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Thèse + 1 proof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51713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Why Now / Why Change / Why Cursor.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2005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8406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14:00 – 17:00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840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Objection CISO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08406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Je la pose moi-même, avant qu'elle ne tombe.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8698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50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17:00 – 20:00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6509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65099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Deux tracks parallèles — tech &amp; sécurité.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15391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PRE-CALL ·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CE QU'IL FAUT SAVOIR AVANT D'ENTRER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Figma, en une slide.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On ne perd pas une seule seconde à se présenter Figma — on le démontre.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269748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7472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Éditeur C++/WASM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Infra Rust + TypeScript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Monorepo, perf-critical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→ contexte long, refactos, multi-repo.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474720"/>
            <a:ext cx="269748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47472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611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PRODUIT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977639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Figma AI, Make,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features génératives en prod.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→ ils pensent évals, latence, trust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déjà en interne.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474720"/>
            <a:ext cx="269748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47472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1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ÉCHELLE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~1 500+ employés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~500–650 ingénieurs estimés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→ base ROI à valider en live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sur l'appel.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474720"/>
            <a:ext cx="269748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47472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611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977639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Post-Adobe, route IPO,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hardening pré-public.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→ « why now » sécurité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est naturellement chaud.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DEUX ACHETEURS, DEUX GRILLES DE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CTO ≠ CISO.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Ils n'évaluent pas le même produit. Adapter à la phrase près.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00400"/>
            <a:ext cx="5577840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PERSONA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5"/>
                </a:solidFill>
                <a:latin typeface="Inter"/>
              </a:rPr>
              <a:t>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CE QUI LE HANTE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4251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Vélocité, gap IA vs concurrence, attrition seniors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39" y="4754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Cycle time, PRs/eng, % code AI-assisté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SA PEUR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39" y="5257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« Encore un outil, +10 % sur Copilot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À PROUVER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5760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Step-function, pas incrément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200400"/>
            <a:ext cx="5577840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20040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PERSONA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5"/>
                </a:solidFill>
                <a:latin typeface="Inter"/>
              </a:rPr>
              <a:t>CISO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CE QUI LE HANTE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251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Exfiltration code, secrets, prompt injection,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54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4754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# shadow tools, time-to-approve, 0 incident 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57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SA PEUR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5257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« Encore un vendor avec mon code 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7607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À PROUVER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5760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Cursor sanctionné &gt; shadow IT actuelle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OPENER · 1 MIN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LES 90 PREMIÈRES SECONDES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Script d'ouverture.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À mémoriser presque mot pour mot — c'est là que la salle se détend ou se ferme.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11201400" cy="2743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6B6B6B"/>
                </a:solidFill>
                <a:latin typeface="Georgia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03320"/>
            <a:ext cx="10149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5F5F5"/>
                </a:solidFill>
                <a:latin typeface="Inter"/>
              </a:rPr>
              <a:t>Merci pour ces 20 minutes — je sais que c'est cher. Je vais passer le plus clair du temps à poser des questions, parce que je préfère vous être utile qu'impressionnant. Deux objectifs côté Cursor : comprendre où l'IA dans le SDLC vous aide ou vous gêne aujourd'hui, et voir si un pilote ciblé vaut le temps de vos équipes. Quick check sur l'agenda : ~8 min de questions, ~5 sur ce qu'on voit chez vos pairs, ~5 sur la sécurité, ~2 sur les next steps. Ça vous va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80">
                <a:solidFill>
                  <a:srgbClr val="6B6B6B"/>
                </a:solidFill>
                <a:latin typeface="Inter"/>
              </a:rPr>
              <a:t>EFFETS — respect du temps · baisse de garde · pré-engagement sur l'agenda · bloc sécurité réservé pour garder le CISO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DISCOVERY · 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8 MINUTES DE QUESTIONS · CTO EN PREMIER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4 questions, pas 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Après chaque question : compter jusqu'à 3 avant de combler le silence.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État des lieux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Quel est votre standard IA dans l'IDE aujourd'hui, et comment noteriez-vous adoption + impact, honnêtement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947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Copilot déployé large mais plateau ; sentiment mitigé.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Plafond à 12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6052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Le gap entre le meilleur outil IA dev et le médian — il s'élargit ou se compresse sur 12 mois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5720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S'élargit = on a gagné l'argument Why Change.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377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37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Pressure-test urgence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3776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Pourquoi vous regardez ça maintenant plutôt qu'au prochain renouvellement Copilot ? Qu'est-ce qui a changé ce trimestre ?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4924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Pas de réponse claire = l'urgence est faible, on calibre les next steps.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1500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150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15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Signal 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71500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Les seniors et juniors utilisent-ils l'IA pareil ? Y a-t-il un tier qui a discrètement abandonné ? 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612648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Senior IC opt-out = signal très fort, pitch atterrit dur.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92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DISCOVERY · CISO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EMBARQUER LE CISO À PARTIR DE LA MINUTE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3 questions sécurité.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Ne pas attendre qu'il s'invite — l'appeler par son nom et lui passer la 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Posture actuelle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Quelle est votre politique sur les outils IA de code — sanctionnés, shadow, entre les deux ? Quel a été le facteur décisif sur les sanctionnés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9319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IP-in-training ? Résidence ? Audit ? On saura quoi mettre en avant.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976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Shadow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976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Si on faisait un sondage anonyme cet aprèm — quel % de vos ingés colle du code dans ChatGPT / Claude / Gemini chaque semaine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8463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La réponse honnête est 40–70 %. C'est notre meilleur levier Why Change.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120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Pré-IPO /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2120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« En durcissant pour la prochaine étape de la boîte — quels 2–3 items IA sont déjà sur le radar des auditeurs ?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7607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 Pre-position nos contrôles enterprise sur leurs items réels.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1264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THÈSE ·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POURQUOI MAINTENANT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La courbe modèle a basculé.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Choisir 1–2 leviers, pas les 4. Toujours raccrocher à ce qu'ils viennent de dire.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571500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57150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Inter"/>
              </a:rPr>
              <a:t>01 · Modèles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Les frontières des 12 derniers mois sont passées de l'autocomplete sophistiqué à la tenue d'une tâche multi-fichiers en mémoire de travail. La base des 2–3 prochaines années de productivité se joue maintenant.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383280"/>
            <a:ext cx="571500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383280"/>
            <a:ext cx="57150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520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Inter"/>
              </a:rPr>
              <a:t>02 · Agentic SDLC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048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Background agents, exécution longue, review au niveau PR : en prod cette année chez des centaines de larges eng orgs. Choisir sa plateforme après T4 = 12 mois de retard outils, patterns internes et sécurité.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83480"/>
            <a:ext cx="571500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983480"/>
            <a:ext cx="57150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Inter"/>
              </a:rPr>
              <a:t>03 · Pré-IPO Figma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À mesure que Figma durcit ses contrôles, le coût des outils IA non-sanctionnés monte chaque trimestre. Ne rien faire est en soi une décision sécurité.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983480"/>
            <a:ext cx="5715000" cy="1417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983480"/>
            <a:ext cx="57150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Inter"/>
              </a:rPr>
              <a:t>04 · Talent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44068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Les seniors posent la question des outils IA en entretien. Levier hiring et levier attrition simultanés.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THÈSE · WHY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09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LE PAYSAGE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Copilot et Claude Code, deux conversations différentes.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On ne descend personne. On nomme ce que Cursor applique mieux.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557784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VS 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Inter"/>
              </a:rPr>
              <a:t>Du snippet à la tâche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Snippet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3434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Task completion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274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Local suggestions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7274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7274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Codebase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114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Isolated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1114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11149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Workflow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955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Point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955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49554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Integrated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291840"/>
            <a:ext cx="557784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29184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VS CLAUDE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49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Inter"/>
              </a:rPr>
              <a:t>Le compétiteur #1 en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43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Single-provider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3434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Model neutrality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7274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Raw model wrapper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7274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7274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Workflow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1114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Limited repo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1114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511149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Large codebase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4955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DIY 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4955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549554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Faster time to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20">
                <a:solidFill>
                  <a:srgbClr val="E5E5E5"/>
                </a:solidFill>
                <a:latin typeface="Inter"/>
              </a:rPr>
              <a:t>L'edge n'est pas une intelligence exclusive — c'est l'intelligence appliquée plus efficacement aux workflows d'ingénierie réels.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THÈSE · WHY CURSOR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10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LES 4 DIFFÉRENCIATEURS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Why Cursor.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Workflow · Context · Execution. Tout part de là.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74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Model neutrality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50215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Flexibilité, pas de lock-in. Le meilleur modèle change tout le temps — Cursor donne accès au SOTA sans forcer à quitter une plateforme.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1480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51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Large codebase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27939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Pas juste un wrapper de modèle. Semantic search, indexing, retrieval — d'autant plus déterminant que le repo est gros et messy.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920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29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Faster time to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05663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Marche out of the box. Les équipes standardisent vite ; les power users vont profond, mais le baseline est déjà fort.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66928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6692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806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Platform, not just a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83387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Couvre tout le SDLC — plan, write, review, debug, iterate. L'intelligence est appliquée là où les devs travaillent vraiment.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PAIN NUMBERS · PRODUCTIVITÉ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11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REPÈRES À MANIER AVEC PRÉCAUTION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Les chiffres qui débloquent le 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Toujours : « ce qu'on voit chez des clients de votre taille ».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Jamais une vérité universelle — pas d'AI hype.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20">
                <a:solidFill>
                  <a:srgbClr val="F5F5F5"/>
                </a:solidFill>
                <a:latin typeface="Inter"/>
              </a:rPr>
              <a:t>~70 %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des Fortune 1000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utilisent Cursor.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(positionnement officiel)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20">
                <a:solidFill>
                  <a:srgbClr val="F5F5F5"/>
                </a:solidFill>
                <a:latin typeface="Inter"/>
              </a:rPr>
              <a:t>15–25 %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84632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réduction cycle-time chez les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orgs IA-adoptantes — au-dessus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de 60 % d'usage hebdo seniors.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20">
                <a:solidFill>
                  <a:srgbClr val="F5F5F5"/>
                </a:solidFill>
                <a:latin typeface="Inter"/>
              </a:rPr>
              <a:t>10–15 %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du temps eng = PR review,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plus gros sink après coding.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Compressible nettement.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20">
                <a:solidFill>
                  <a:srgbClr val="F5F5F5"/>
                </a:solidFill>
                <a:latin typeface="Inter"/>
              </a:rPr>
              <a:t>Senior 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84632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opt-out = signal #1.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Quand les meilleurs n'utilisent pas,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plafond ROI org ≈ 5 %.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ROI · À FAIRE EN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LE CALCUL À PROJETER À L'ÉCRAN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Modèle, pas promesse.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Demander à Figma de corriger N. La correction = engagement.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6400800" cy="2926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64008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5852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5F5F5"/>
                </a:solidFill>
                <a:latin typeface="JetBrains Mono"/>
              </a:rPr>
              <a:t>N  =  ingénieurs   (≈ 500, à confirmer en live)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5F5F5"/>
                </a:solidFill>
                <a:latin typeface="JetBrains Mono"/>
              </a:rPr>
              <a:t>C  =  coût chargé   ≈ $275 K / an (SF Bay)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5F5F5"/>
                </a:solidFill>
                <a:latin typeface="JetBrains Mono"/>
              </a:rPr>
              <a:t>T  =  temps récupéré   8–12 % conservateur,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5F5F5"/>
                </a:solidFill>
                <a:latin typeface="JetBrains Mono"/>
              </a:rPr>
              <a:t>        20 %+ avec adoption forte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5F5F5"/>
                </a:solidFill>
                <a:latin typeface="JetBrains Mon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5F5F5"/>
                </a:solidFill>
                <a:latin typeface="JetBrains Mono"/>
              </a:rPr>
              <a:t>Capacité réclamée  =  N × C × 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3383280"/>
            <a:ext cx="4526280" cy="2926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3383280"/>
            <a:ext cx="45262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EXEMPLE FIGMA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88620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spc="-10">
                <a:solidFill>
                  <a:srgbClr val="F5F5F5"/>
                </a:solidFill>
                <a:latin typeface="Inter"/>
              </a:rPr>
              <a:t>≈ $13,7 M / 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70916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500 ingés × $275 K × 10 %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Coût outil enterprise typique :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&lt; 3 % de la capacité récupérée.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20">
                <a:solidFill>
                  <a:srgbClr val="E5E5E5"/>
                </a:solidFill>
                <a:latin typeface="Inter"/>
              </a:rPr>
              <a:t>PHRASE À DIRE  —  « La question n'est pas si l'outil se paye. C'est si vous captez 5 % ou 50 % de l'upside — fonction du choix de plateforme et du rollout.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PAIN NUMBERS ·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REPÈRES À MÉMORISER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Les chiffres qui réveillent le CISO.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Reframe : ce n'est pas « pourquoi ajouter un outil » → c'est « pourquoi tolérer l'incontrôlé 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spc="-20">
                <a:solidFill>
                  <a:srgbClr val="F5F5F5"/>
                </a:solidFill>
                <a:latin typeface="Inter"/>
              </a:rPr>
              <a:t>50–75 %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des ingénieurs utilisent un outil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IA de code chaque semaine.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spc="-20">
                <a:solidFill>
                  <a:srgbClr val="F5F5F5"/>
                </a:solidFill>
                <a:latin typeface="Inter"/>
              </a:rPr>
              <a:t>30–60 %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admettent coller du code dans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des produits IA grand public.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spc="-20">
                <a:solidFill>
                  <a:srgbClr val="F5F5F5"/>
                </a:solidFill>
                <a:latin typeface="Inter"/>
              </a:rPr>
              <a:t>5–7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outils IA non-sanctionnés présents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au moment où l'un est enfin approuvé.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749039"/>
            <a:ext cx="269748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749039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9319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spc="-20">
                <a:solidFill>
                  <a:srgbClr val="F5F5F5"/>
                </a:solidFill>
                <a:latin typeface="Inter"/>
              </a:rPr>
              <a:t>6–9 mois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du « il faut évaluer » à « en prod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avec SSO + audit ». 6–9 mois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d'exposition non-gérée.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OBJECTION · CISO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MINUTE 14 — JE LA POSE MOI-MÊME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« Encore un vendor avec notre code.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Privacy Mode + SOC 2. Trois bullets exacts, pas de feature dump.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Code non-stocké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375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Customer code is not stored or retained — c'est contractuel, pas un toggle. Le code n'atterrit pas sur nos disques.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5079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Pas d'entraînement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Code is not used to train models — ni les nôtres, ni ceux des providers tiers. Garantie contractuelle.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2803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Requêtes éphémères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9204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Requests are isolated and ephemeral — pas de log persistant des prompts ni des completions en mode privé.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0527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69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Enterprise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66928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SOC 2 · contrôles admin · visibilité · SSO. Call security ↔ security sous 7 jours, avec SIG + pentest en amont.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8251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CLOSE ·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17:00 — LA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Deux tracks parallèles, jamais « un pilote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Aucun des deux personas n'est le bottleneck de l'autre.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5577840" cy="3108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TRACK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5"/>
                </a:solidFill>
                <a:latin typeface="Inter"/>
              </a:rPr>
              <a:t>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30 min avec l'owner dev tooling.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Pilote ciblé sur LA zone qu'ils ont nommée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(refactos / review / onboarding…).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Métriques de succès définies AVANT le pilote.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OWNER CÔTÉ FIGMA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80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Head of Platform / DevEx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3108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TRACK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5"/>
                </a:solidFill>
                <a:latin typeface="Inter"/>
              </a:rPr>
              <a:t>Sécurité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8912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45 min security ↔ security.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On envoie SOC 2, SIG, pentest, archi, DPA.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Quand le pilote tech finit,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0A0A0"/>
                </a:solidFill>
                <a:latin typeface="Inter"/>
              </a:rPr>
              <a:t>la sécurité n'est pas à zéro.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OWNER CÔTÉ FIGMA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6080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CISO + lead AppSec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20">
                <a:solidFill>
                  <a:srgbClr val="E5E5E5"/>
                </a:solidFill>
                <a:latin typeface="Inter"/>
              </a:rPr>
              <a:t>PHRASE À DIRE  —  « Vous pouvez me mettre en contact avec la bonne personne sur chaque track cette semaine ? »  Puis se taire.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RAPPELS TACTIQUES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À GARDER EN TÊTE SUR LE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Le détail qui fait gagner.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Petites choses, gros impact sur l'issue de l'appel.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Lead with discovery, not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60 % du temps c'est eux qui parlent. On poursuit la compréhension avant l'opinion.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Opinionated, not scripted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Avoir un point de vue. Reconnaître les tradeoffs vs Copilot et Claude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Pressure-test l'urgence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« Pourquoi maintenant, pas dans 6 mois ? » Si pas de réponse claire = pas de deal.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43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Adjust par persona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091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CTO = vélocité et talent. CISO = privacy mode + SOC 2. Pas la même histoire.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Customer stories &gt; AI hype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Citer des pairs (Fortune 1000, ~70 %) plutôt que des claims génériques.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49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Silence &gt; comblement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71500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Compter 3 secondes après chaque question. Le premier qui parle perd.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META · CANDIDATE-ONLY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× Figma  ·  Discovery CTO / CISO  · 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À MASQUER PENDANT LE ROLE-PLAY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5F5F5"/>
                </a:solidFill>
                <a:latin typeface="Inter"/>
              </a:rPr>
              <a:t>Ce qui est vraiment évalué.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0A0A0"/>
                </a:solidFill>
                <a:latin typeface="Inter"/>
              </a:rPr>
              <a:t>Cinq signaux à émettre activement pendant les 20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5577840" cy="3108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SIGNAUX FORTS — à émettre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Prepared — preuves de recherche Figma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Self-aware — nommer ses tradeoffs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Composed — gérer le silence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Tactically sharp — questions ciblées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Coachable — accueillir le pushback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291840"/>
            <a:ext cx="5577840" cy="31089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29184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SIGNAUX FAIBLES — à éviter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94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Inter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Feature dump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Inter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AI hype générique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617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Inter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Overconfident sans grounding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Inter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029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Pitcher avant d'avoir compris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440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Inter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440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5F5F5"/>
                </a:solidFill>
                <a:latin typeface="Inter"/>
              </a:rPr>
              <a:t>Donner une opinion sans contexte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20">
                <a:solidFill>
                  <a:srgbClr val="E5E5E5"/>
                </a:solidFill>
                <a:latin typeface="Inter"/>
              </a:rPr>
              <a:t>Rubrique : prepared · self-aware · composed · tactically sharp · coachable.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