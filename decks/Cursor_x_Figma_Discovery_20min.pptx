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spc="400">
                <a:solidFill>
                  <a:srgbClr val="6B6B6B"/>
                </a:solidFill>
                <a:latin typeface="Inter"/>
              </a:rPr>
              <a:t>DISCOVERY · 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5F5F5"/>
                </a:solidFill>
                <a:latin typeface="Inter"/>
              </a:rPr>
              <a:t>Cursor × Figma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F5F5F5"/>
                </a:solidFill>
                <a:latin typeface="Inter"/>
              </a:rPr>
              <a:t>CTO &amp; CISO.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0A0A0"/>
                </a:solidFill>
                <a:latin typeface="Inter"/>
              </a:rPr>
              <a:t>Plan de l'appel, questions de découverte,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0A0A0"/>
                </a:solidFill>
                <a:latin typeface="Inter"/>
              </a:rPr>
              <a:t>thèse Why Now / Why Change / Why Cursor.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194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OBJECTIFS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560320"/>
            <a:ext cx="41148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>
                <a:solidFill>
                  <a:srgbClr val="F5F5F5"/>
                </a:solidFill>
                <a:latin typeface="Inter"/>
              </a:rPr>
              <a:t>→  Earn a technical deep dive</a:t>
            </a:r>
          </a:p>
          <a:p>
            <a:pPr algn="l">
              <a:lnSpc>
                <a:spcPct val="170000"/>
              </a:lnSpc>
            </a:pPr>
            <a:r>
              <a:rPr sz="1400" b="0">
                <a:solidFill>
                  <a:srgbClr val="F5F5F5"/>
                </a:solidFill>
                <a:latin typeface="Inter"/>
              </a:rPr>
              <a:t>→  Earn a security review</a:t>
            </a:r>
          </a:p>
          <a:p>
            <a:pPr algn="l">
              <a:lnSpc>
                <a:spcPct val="170000"/>
              </a:lnSpc>
            </a:pPr>
            <a:r>
              <a:rPr sz="1400" b="0">
                <a:solidFill>
                  <a:srgbClr val="F5F5F5"/>
                </a:solidFill>
                <a:latin typeface="Inter"/>
              </a:rPr>
              <a:t>→  Ne pas pitcher — qualifier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937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5257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5F5F5"/>
                </a:solidFill>
                <a:latin typeface="Inter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Confidential — Internal prep 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JetBrains Mono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STRUCTURE DE L'APPEL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20 minutes, timeboxé.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Discipline &gt; improvisation. Le client doit parler 60 % du temps.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6B"/>
                </a:solidFill>
                <a:latin typeface="JetBrains Mono"/>
              </a:rPr>
              <a:t>0:00 – 1:30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383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Cadrage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3832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0A0A0"/>
                </a:solidFill>
                <a:latin typeface="Inter"/>
              </a:rPr>
              <a:t>Agenda, permission, posture humble.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862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020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6B"/>
                </a:solidFill>
                <a:latin typeface="JetBrains Mono"/>
              </a:rPr>
              <a:t>1:30 – 9:30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9502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9502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0A0A0"/>
                </a:solidFill>
                <a:latin typeface="Inter"/>
              </a:rPr>
              <a:t>CTO d'abord, CISO à partir de 5:00.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5312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1713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6B"/>
                </a:solidFill>
                <a:latin typeface="JetBrains Mono"/>
              </a:rPr>
              <a:t>9:30 – 14:00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51713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Thèse + 1 proof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0A0A0"/>
                </a:solidFill>
                <a:latin typeface="Inter"/>
              </a:rPr>
              <a:t>Why Now / Why Change / Why Cursor.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200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08406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6B"/>
                </a:solidFill>
                <a:latin typeface="JetBrains Mono"/>
              </a:rPr>
              <a:t>14:00 – 17:00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0840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Objection CISO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08406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0A0A0"/>
                </a:solidFill>
                <a:latin typeface="Inter"/>
              </a:rPr>
              <a:t>Je la pose moi-même, avant qu'elle ne tombe.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58698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5099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6B"/>
                </a:solidFill>
                <a:latin typeface="JetBrains Mono"/>
              </a:rPr>
              <a:t>17:00 – 20:00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6509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56509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0A0A0"/>
                </a:solidFill>
                <a:latin typeface="Inter"/>
              </a:rPr>
              <a:t>Deux tracks parallèles — tech &amp; sécurité.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1539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PRE-CALL · 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CE QU'IL FAUT SAVOIR AVANT D'ENTRER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Figma, en une slide.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On ne perd pas une seule seconde à se présenter Figma — on le démontre.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474720"/>
            <a:ext cx="2697480" cy="2743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47472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Éditeur C++/WASM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Infra Rust + TypeScript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Monorepo, perf-critical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→ contexte long, refactos, multi-repo.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474720"/>
            <a:ext cx="2697480" cy="2743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47472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PRODUIT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977639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Figma AI, Make,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features génératives en prod.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→ ils pensent évals, latence, trust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déjà en interne.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474720"/>
            <a:ext cx="2697480" cy="2743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47472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ÉCHELLE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77639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~1 500+ employés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~500–650 ingénieurs estimés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→ base ROI à valider en live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sur l'appel.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474720"/>
            <a:ext cx="2697480" cy="2743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47472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611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MOMENTUM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977639"/>
            <a:ext cx="2240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Post-Adobe, route IPO,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hardening pré-public.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→ « why now » sécurité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est naturellement chaud.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DEUX ACHETEURS, DEUX GRILLES DE LECTURE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CTO ≠ CISO.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Ils n'évaluent pas le même produit. Adapter à la phrase près.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00400"/>
            <a:ext cx="5577840" cy="3246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PERSONA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57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5F5F5"/>
                </a:solidFill>
                <a:latin typeface="Inter"/>
              </a:rPr>
              <a:t>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5196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CE QUI LE HANTE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251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Vélocité, gap IA vs concurrence, attrition seniors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KPI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39" y="4754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Cycle time, PRs/eng, % code AI-assisté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SA PEUR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39" y="5257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« Encore un outil, +10 % sur Copilot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76072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À PROUVER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5760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Step-function, pas incrément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200400"/>
            <a:ext cx="5577840" cy="3246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320040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337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PERSONA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657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5F5F5"/>
                </a:solidFill>
                <a:latin typeface="Inter"/>
              </a:rPr>
              <a:t>CISO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25196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CE QUI LE HANTE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4251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Exfiltration code, secrets, prompt injection,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754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KPI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4754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# shadow tools, time-to-approve, 0 incident 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25780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SA PEUR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5257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« Encore un vendor avec mon code 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76072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À PROUVER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9" y="5760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Cursor sanctionné &gt; shadow IT actuelle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OPENER · 1 MIN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LES 90 PREMIÈRES SECONDES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Script d'ouverture.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À mémoriser presque mot pour mot — c'est là que la salle se détend ou se ferme.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11201400" cy="2743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6B6B6B"/>
                </a:solidFill>
                <a:latin typeface="Georg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03320"/>
            <a:ext cx="101498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5F5F5"/>
                </a:solidFill>
                <a:latin typeface="Inter"/>
              </a:rPr>
              <a:t>Merci pour ces 20 minutes — je sais que c'est cher. Je vais passer le plus clair du temps à poser des questions, parce que je préfère vous être utile qu'impressionnant. Deux objectifs côté Cursor : comprendre où l'IA dans le SDLC vous aide ou vous gêne aujourd'hui, et voir si un pilote ciblé vaut le temps de vos équipes. Quick check sur l'agenda : ~8 min de questions, ~5 sur ce qu'on voit chez vos pairs, ~5 sur la sécurité, ~2 sur les next steps. Ça vous va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80">
                <a:solidFill>
                  <a:srgbClr val="6B6B6B"/>
                </a:solidFill>
                <a:latin typeface="Inter"/>
              </a:rPr>
              <a:t>EFFETS — respect du temps · baisse de garde · pré-engagement sur l'agenda · bloc sécurité réservé pour garder le CISO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DISCOVERY · 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8 MINUTES DE QUESTIONS · CTO EN PREMIER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4 questions, pas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Après chaque question : compter jusqu'à 3 avant de combler le silence.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État des lieux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38328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Quel est votre standard IA dans l'IDE aujourd'hui, et comment noteriez-vous adoption + impact, honnêtement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9476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Copilot déployé large mais plateau ; sentiment mitigé.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1605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Plafond à 12 mois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16052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Le gap entre le meilleur outil IA dev et le médian — il s'élargit ou se compresse sur 12 mois ?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57200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S'élargit = on a gagné l'argument Why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9377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37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Où ça fait mal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93776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Quelle étape du SDLC l'IA devrait aider mais n'aide pas — review, refactos, onboarding, tests, incidents ?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34924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Refactos / large-context = sweet spot Cursor.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150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715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Signal org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71500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Les seniors et juniors utilisent-ils l'IA pareil ? Y a-t-il un tier qui a discrètement abandonné ? 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612648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Senior IC opt-out = signal très fort, pitch atterrit dur.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92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DISCOVERY · CISO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EMBARQUER LE CISO À PARTIR DE LA MINUTE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3 questions sécurité.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Ne pas attendre qu'il s'invite — l'appeler par son nom et lui passer la main.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Posture actuelle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38328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Quelle est votre politique sur les outils IA de code — sanctionnés, shadow, entre les deux ? Quel a été le facteur décisif sur les sanctionnés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9319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IP-in-training ? Résidence ? Audit ? On saura quoi mettre en avant.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976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97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Shadow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9768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Si on faisait un sondage anonyme cet aprèm — quel % de vos ingés colle du code dans ChatGPT / Claude / Gemini chaque semaine ?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8463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La réponse honnête est 40–70 %. C'est notre meilleur levier Why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120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12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6B6B"/>
                </a:solidFill>
                <a:latin typeface="JetBrains Mon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Pré-IPO /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21208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E5E5E5"/>
                </a:solidFill>
                <a:latin typeface="Inter"/>
              </a:rPr>
              <a:t>« En durcissant pour la prochaine étape de la boîte — quels 2–3 items IA sont déjà sur le radar des auditeurs ?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B6B"/>
                </a:solidFill>
                <a:latin typeface="Inter"/>
              </a:rPr>
              <a:t>→ Pre-position nos contrôles enterprise sur leurs items réels.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1264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THÈSE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08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POURQUOI MAINTENANT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La courbe modèle a basculé.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Choisir 1–2 leviers, pas les 4. Toujours raccrocher à ce qu'ils viennent de dire.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5715000" cy="1417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57150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6B6B6B"/>
                </a:solidFill>
                <a:latin typeface="Inter"/>
              </a:rPr>
              <a:t>01 · Modèles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F5F5F5"/>
                </a:solidFill>
                <a:latin typeface="Inter"/>
              </a:rPr>
              <a:t>Les frontières des 12 derniers mois sont passées de l'autocomplete sophistiqué à la tenue d'une tâche multi-fichiers en mémoire de travail. La base des 2–3 prochaines années de productivité se joue maintenant.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3383280"/>
            <a:ext cx="5715000" cy="1417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3383280"/>
            <a:ext cx="57150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5204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6B6B6B"/>
                </a:solidFill>
                <a:latin typeface="Inter"/>
              </a:rPr>
              <a:t>02 · Agentic SDLC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048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F5F5F5"/>
                </a:solidFill>
                <a:latin typeface="Inter"/>
              </a:rPr>
              <a:t>Background agents, exécution longue, review au niveau PR : en prod cette année chez des centaines de larges eng orgs. Choisir sa plateforme après T4 = 12 mois de retard outils, patterns internes et sécurité.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83480"/>
            <a:ext cx="5715000" cy="1417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983480"/>
            <a:ext cx="57150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6B6B6B"/>
                </a:solidFill>
                <a:latin typeface="Inter"/>
              </a:rPr>
              <a:t>03 · Pré-IPO Figma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F5F5F5"/>
                </a:solidFill>
                <a:latin typeface="Inter"/>
              </a:rPr>
              <a:t>À mesure que Figma durcit ses contrôles, le coût des outils IA non-sanctionnés monte chaque trimestre. Ne rien faire est en soi une décision sécurité.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4983480"/>
            <a:ext cx="5715000" cy="1417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4983480"/>
            <a:ext cx="57150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6B6B6B"/>
                </a:solidFill>
                <a:latin typeface="Inter"/>
              </a:rPr>
              <a:t>04 · Talent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4068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F5F5F5"/>
                </a:solidFill>
                <a:latin typeface="Inter"/>
              </a:rPr>
              <a:t>Les seniors posent la question des outils IA en entretien. Levier hiring et levier attrition simultanés.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THÈSE · WHY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09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POURQUOI CHANGER (DU SORTANT — QUASI SÛREMENT COPILOT)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Un gap qualité, pas une bataille de marque.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On ne descend pas Copilot. On nomme ce qui mange les journées des seniors.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Le travail qui coûte 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8328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Refactos multi-fichiers, navigation d'un service inconnu, repro de bug, tests manquants. C'est là que le gap est le plus large — et il s'est élargi sur 9 mois, pas refermé.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389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80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Senior IC opt-out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48056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Pattern récurrent : quand vos meilleurs ingés n'utilisent pas l'outil, le plafond ROI org est ~5 %. Quand ils l'utilisent, c'est 20–30 %.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864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577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Coût du sur-place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57784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Chaque mois passé sur un outil plafonné = patterns internes qui se figent autour de ses limites. Le switch devient plus cher, pas moins cher.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836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THÈSE · WHY CURSOR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TROIS CLAIMS TRANCHANTS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Why Cursor.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Pas de feature dump. Trois affirmations, défendables sous le feu.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11201400" cy="960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5661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5F5"/>
                </a:solidFill>
                <a:latin typeface="Inter"/>
              </a:rPr>
              <a:t>Capacité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6616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Cursor est conçu pour le travail full-repo et agentique — exactement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là où se joue la prochaine année de gains de productivité.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34840"/>
            <a:ext cx="11201400" cy="960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4348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5F5"/>
                </a:solidFill>
                <a:latin typeface="Inter"/>
              </a:rPr>
              <a:t>Choix + futur-proof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61772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Les modèles frontières s'échangent à mesure qu'ils sortent.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Pas de lock-in sur la roadmap d'un seul provider.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86400"/>
            <a:ext cx="11201400" cy="960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4864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669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5F5"/>
                </a:solidFill>
                <a:latin typeface="Inter"/>
              </a:rPr>
              <a:t>Trust 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66928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SOC 2 Type II, ISO 27001, Privacy Mode (zero data retention),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no training on your code, SAML/SCIM, audit logs.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PAIN NUMBERS · PRODUCTIVITÉ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REPÈRES À MÉMORISER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Les chiffres qui débloquent le CTO.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Toujours formuler : « ce qu'on voit chez des clients de votre taille »,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jamais comme une vérité universelle.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spc="-20">
                <a:solidFill>
                  <a:srgbClr val="F5F5F5"/>
                </a:solidFill>
                <a:latin typeface="Inter"/>
              </a:rPr>
              <a:t>30–40 %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du temps des seniors passé à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lire / naviguer du code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qu'ils n'ont pas écrit.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spc="-20">
                <a:solidFill>
                  <a:srgbClr val="F5F5F5"/>
                </a:solidFill>
                <a:latin typeface="Inter"/>
              </a:rPr>
              <a:t>15–25 %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réduction cycle-time chez les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orgs IA-adoptantes — au-dessus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de 60 % d'usage hebdo seniors.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spc="-20">
                <a:solidFill>
                  <a:srgbClr val="F5F5F5"/>
                </a:solidFill>
                <a:latin typeface="Inter"/>
              </a:rPr>
              <a:t>10–15 %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du temps eng = PR review,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plus gros sink après coding.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Compressible nettement.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spc="-20">
                <a:solidFill>
                  <a:srgbClr val="F5F5F5"/>
                </a:solidFill>
                <a:latin typeface="Inter"/>
              </a:rPr>
              <a:t>≤ 35 %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des suggestions multi-lignes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acceptées chez les outils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complétion-only. Inversé en agentique.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ROI · À FAIRE EN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LE CALCUL À PROJETER À L'ÉCRAN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ROI : capter 5 % ou 50 % de l'upside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Demander à Figma de corriger N. La correction = engagement.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6400800" cy="2926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64008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MODÈLE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5852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F5F5F5"/>
                </a:solidFill>
                <a:latin typeface="JetBrains Mono"/>
              </a:rPr>
              <a:t>N  =  ingénieurs   (≈ 500, à confirmer en live)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F5F5F5"/>
                </a:solidFill>
                <a:latin typeface="JetBrains Mono"/>
              </a:rPr>
              <a:t>C  =  coût chargé   ≈ $275 K / an (SF Bay)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F5F5F5"/>
                </a:solidFill>
                <a:latin typeface="JetBrains Mono"/>
              </a:rPr>
              <a:t>T  =  temps récupéré   8–12 % conservateur,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F5F5F5"/>
                </a:solidFill>
                <a:latin typeface="JetBrains Mono"/>
              </a:rPr>
              <a:t>        20 %+ avec adoption forte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F5F5F5"/>
                </a:solidFill>
                <a:latin typeface="JetBrains Mon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F5F5F5"/>
                </a:solidFill>
                <a:latin typeface="JetBrains Mono"/>
              </a:rPr>
              <a:t>Capacité réclamée  =  N × C × 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3383280"/>
            <a:ext cx="4526280" cy="2926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3383280"/>
            <a:ext cx="45262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3520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EXEMPLE FIGMA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88620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10">
                <a:solidFill>
                  <a:srgbClr val="F5F5F5"/>
                </a:solidFill>
                <a:latin typeface="Inter"/>
              </a:rPr>
              <a:t>≈ $13,7 M / 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70916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500 ingés × $275 K × 10 %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Coût outil enterprise typique :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A0A0A0"/>
                </a:solidFill>
                <a:latin typeface="Inter"/>
              </a:rPr>
              <a:t>&lt; 3 % de la capacité récupérée.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">
                <a:solidFill>
                  <a:srgbClr val="E5E5E5"/>
                </a:solidFill>
                <a:latin typeface="Inter"/>
              </a:rPr>
              <a:t>PHRASE À DIRE  —  « La question n'est pas si l'outil se paye. C'est si vous captez 5 % ou 50 % de l'upside — fonction du choix de plateforme et du rollout.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PAIN NUMBERS · 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REPÈRES À MÉMORISER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Les chiffres qui réveillent le CISO.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Reframe : ce n'est pas « pourquoi ajouter un outil » → c'est « pourquoi tolérer l'incontrôlé ».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20">
                <a:solidFill>
                  <a:srgbClr val="F5F5F5"/>
                </a:solidFill>
                <a:latin typeface="Inter"/>
              </a:rPr>
              <a:t>50–75 %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des ingénieurs utilisent un outil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IA de code chaque semaine.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20">
                <a:solidFill>
                  <a:srgbClr val="F5F5F5"/>
                </a:solidFill>
                <a:latin typeface="Inter"/>
              </a:rPr>
              <a:t>30–60 %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admettent coller du code dans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des produits IA grand public.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20">
                <a:solidFill>
                  <a:srgbClr val="F5F5F5"/>
                </a:solidFill>
                <a:latin typeface="Inter"/>
              </a:rPr>
              <a:t>5–7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outils IA non-sanctionnés présents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au moment où l'un est enfin approuvé.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749039"/>
            <a:ext cx="269748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749039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39319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20">
                <a:solidFill>
                  <a:srgbClr val="F5F5F5"/>
                </a:solidFill>
                <a:latin typeface="Inter"/>
              </a:rPr>
              <a:t>6–9 mois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480060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du « il faut évaluer » à « en prod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avec SSO + audit ». 6–9 mois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d'exposition non-gérée.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OBJECTION · CISO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MINUTE 14 — JE LA POSE MOI-MÊME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« Encore un vendor avec notre code.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Trois réponses préparées. Aucune n'est une feature, toutes sont contractuelles.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Zero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8328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Votre code n'entraîne aucun modèle — ni le nôtre, ni celui des providers. C'est contractuel, pas un toggle.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3434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348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34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Privacy Mode + ZDR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43484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Prompts et completions peuvent ne pas persister sur notre infrastructure. On déroule à votre équipe ce qui est loggé et ce qui ne l'est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3949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48640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4864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5"/>
                </a:solidFill>
                <a:latin typeface="Inter"/>
              </a:rPr>
              <a:t>Contrôles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48640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SOC 2 Type II · ISO 27001 · SAML SSO · SCIM · export audit logs · policies par équipe. Call security ↔ security sous 7 jours, SIG + résumé pentest envoyés en amont.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465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CLOSE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17:00 — LA SORTIE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Deux tracks parallèles, jamais « un pilote 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Aucun des deux personas n'est le bottleneck de l'autre.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91840"/>
            <a:ext cx="5577840" cy="310896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9184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TRACK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3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5F5F5"/>
                </a:solidFill>
                <a:latin typeface="Inter"/>
              </a:rPr>
              <a:t>Technique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891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30 min avec l'owner dev tooling.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Pilote ciblé sur LA zone qu'ils ont nommée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(refactos / review / onboarding…).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Métriques de succès définies AVANT le pilote.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OWNER CÔTÉ FIGMA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Head of Platform / DevEx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291840"/>
            <a:ext cx="5577840" cy="310896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29184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29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TRACK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4903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5F5F5"/>
                </a:solidFill>
                <a:latin typeface="Inter"/>
              </a:rPr>
              <a:t>Sécurité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3891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45 min security ↔ security.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On envoie SOC 2, SIG, pentest, archi, DPA.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Quand le pilote tech finit,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A0A0A0"/>
                </a:solidFill>
                <a:latin typeface="Inter"/>
              </a:rPr>
              <a:t>la sécurité n'est pas à zéro.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852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OWNER CÔTÉ FIGMA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5F5"/>
                </a:solidFill>
                <a:latin typeface="Inter"/>
              </a:rPr>
              <a:t>CISO + lead AppSec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20">
                <a:solidFill>
                  <a:srgbClr val="E5E5E5"/>
                </a:solidFill>
                <a:latin typeface="Inter"/>
              </a:rPr>
              <a:t>PHRASE À DIRE  —  « Vous pouvez me mettre en contact avec la bonne personne sur chaque track cette semaine ? »  Puis se taire.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3200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200">
                <a:solidFill>
                  <a:srgbClr val="6B6B6B"/>
                </a:solidFill>
                <a:latin typeface="Inter"/>
              </a:rPr>
              <a:t>RAPPELS TACTIQUES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80">
                <a:solidFill>
                  <a:srgbClr val="6B6B6B"/>
                </a:solidFill>
                <a:latin typeface="Inter"/>
              </a:rPr>
              <a:t>Cursor × Figma  ·  Discovery CTO / CISO  · 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spc="50">
                <a:solidFill>
                  <a:srgbClr val="6B6B6B"/>
                </a:solidFill>
                <a:latin typeface="JetBrains Mono"/>
              </a:rPr>
              <a:t>16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300">
                <a:solidFill>
                  <a:srgbClr val="6B6B6B"/>
                </a:solidFill>
                <a:latin typeface="Inter"/>
              </a:rPr>
              <a:t>À GARDER EN TÊTE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5"/>
                </a:solidFill>
                <a:latin typeface="Inter"/>
              </a:rPr>
              <a:t>Le détail qui fait gagner.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0A0A0"/>
                </a:solidFill>
                <a:latin typeface="Inter"/>
              </a:rPr>
              <a:t>Petites choses, gros impact sur l'issue de l'appel.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Pré-envoyer  ·  rien de lourd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Email de 2 lignes max — agenda. On garde les artefacts pour le screen-share.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3832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Citer 2–3 pairs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490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Mêmes taille + stack, en clients enterprise Cursor. UN qui a résolu pile l'objection sécurité du CISO.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43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43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Regarder l'horloge visiblement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À 17:00 — « je veux respecter votre temps, passons aux next steps. » Discipline = crédibilité.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43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Followup &lt; 2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70916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Pas 24. Un paragraphe par persona. On reprend ce qu'ILS ont dit, pas ce qu'on a dit.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035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035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Senior IC opt-out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6928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Si ça sort en discovery — épingler l'info, c'est le wedge le plus puissant pour le pilote.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53035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3035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5F5F5"/>
                </a:solidFill>
                <a:latin typeface="Inter"/>
              </a:rPr>
              <a:t>Silence &gt; comblement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66928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A0A0A0"/>
                </a:solidFill>
                <a:latin typeface="Inter"/>
              </a:rPr>
              <a:t>Compter 3 secondes après chaque question. Le premier qui parle perd.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