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EEAD4"/>
                </a:solidFill>
                <a:latin typeface="Aptos"/>
              </a:rPr>
              <a:t>CURSOR INTERVIEW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80467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 Display"/>
              </a:rPr>
              <a:t>How I'd Win as an Account Executive at Cursor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6400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94A3B8"/>
                </a:solidFill>
                <a:latin typeface="Aptos"/>
              </a:rPr>
              <a:t>Help Cursor turn bottom-up enthusiasm into repeatable, multi-threaded enterprise revenue.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120640"/>
            <a:ext cx="4389120" cy="777240"/>
          </a:xfrm>
          <a:prstGeom prst="roundRect">
            <a:avLst/>
          </a:prstGeom>
          <a:solidFill>
            <a:srgbClr val="18222E"/>
          </a:solidFill>
          <a:ln>
            <a:solidFill>
              <a:srgbClr val="1822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5340096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Your Name | Account Executive Candidate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5650992"/>
            <a:ext cx="374903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Aptos"/>
              </a:rPr>
              <a:t>you@example.com | linkedin.com/in/yourname | City, 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0" y="1188720"/>
            <a:ext cx="2011680" cy="4297680"/>
          </a:xfrm>
          <a:prstGeom prst="roundRect">
            <a:avLst/>
          </a:prstGeom>
          <a:solidFill>
            <a:srgbClr val="161B22"/>
          </a:solidFill>
          <a:ln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46920" y="155448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>
                <a:solidFill>
                  <a:srgbClr val="5EEAD4"/>
                </a:solidFill>
                <a:latin typeface="Aptos"/>
              </a:rPr>
              <a:t>AE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55480" y="2240280"/>
            <a:ext cx="164592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8FAFC"/>
                </a:solidFill>
                <a:latin typeface="Aptos"/>
              </a:rPr>
              <a:t>Revenue
operator
for an AI-
native era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Cursor AE interview deck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0080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EEAD4"/>
                </a:solidFill>
                <a:latin typeface="Aptos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241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Aptos Display"/>
              </a:rPr>
              <a:t>My thesis for the role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Cursor has the ingredients for fast growth: product love, clear workflow value, and an urgent budget conversation around AI tooling.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3566160" cy="35661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84832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1. Win where product pull already exists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320040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  <a:latin typeface="Aptos"/>
              </a:defRPr>
            </a:pPr>
            <a:r>
              <a:t>Prioritize accounts where engineers are self-educating on AI coding tools.</a:t>
            </a:r>
          </a:p>
          <a:p>
            <a:pPr>
              <a:defRPr sz="1100">
                <a:solidFill>
                  <a:srgbClr val="F8FAFC"/>
                </a:solidFill>
                <a:latin typeface="Aptos"/>
              </a:defRPr>
            </a:pPr>
            <a:r>
              <a:t>Turn bottom-up usage into a business case around velocity, quality, and security.</a:t>
            </a:r>
          </a:p>
          <a:p>
            <a:pPr>
              <a:defRPr sz="1100">
                <a:solidFill>
                  <a:srgbClr val="F8FAFC"/>
                </a:solidFill>
                <a:latin typeface="Aptos"/>
              </a:defRPr>
            </a:pPr>
            <a:r>
              <a:t>Use proof, not hype: demo measurable team outcomes quickly.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920240"/>
            <a:ext cx="3566160" cy="3566160"/>
          </a:xfrm>
          <a:prstGeom prst="roundRect">
            <a:avLst/>
          </a:prstGeom>
          <a:solidFill>
            <a:srgbClr val="18222E"/>
          </a:solidFill>
          <a:ln w="12700">
            <a:solidFill>
              <a:srgbClr val="1822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2084832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2. Sell a rollout, not just seats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2468880"/>
            <a:ext cx="320040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  <a:latin typeface="Aptos"/>
              </a:defRPr>
            </a:pPr>
            <a:r>
              <a:t>Map each deal to a rollout plan with champions, leaders, and IT/security stakeholders.</a:t>
            </a:r>
          </a:p>
          <a:p>
            <a:pPr>
              <a:defRPr sz="1100">
                <a:solidFill>
                  <a:srgbClr val="F8FAFC"/>
                </a:solidFill>
                <a:latin typeface="Aptos"/>
              </a:defRPr>
            </a:pPr>
            <a:r>
              <a:t>Anchor on adoption milestones that justify expansion and renewal.</a:t>
            </a:r>
          </a:p>
          <a:p>
            <a:pPr>
              <a:defRPr sz="1100">
                <a:solidFill>
                  <a:srgbClr val="F8FAFC"/>
                </a:solidFill>
                <a:latin typeface="Aptos"/>
              </a:defRPr>
            </a:pPr>
            <a:r>
              <a:t>Make it easy for managers to see who is getting value and where to scale.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1920240"/>
            <a:ext cx="3108960" cy="35661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2084832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3. Build repeatable expansion plays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468880"/>
            <a:ext cx="274320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  <a:latin typeface="Aptos"/>
              </a:defRPr>
            </a:pPr>
            <a:r>
              <a:t>Package customer stories by use case, persona, and technical maturity.</a:t>
            </a:r>
          </a:p>
          <a:p>
            <a:pPr>
              <a:defRPr sz="1100">
                <a:solidFill>
                  <a:srgbClr val="F8FAFC"/>
                </a:solidFill>
                <a:latin typeface="Aptos"/>
              </a:defRPr>
            </a:pPr>
            <a:r>
              <a:t>Create repeatable paths from one team to many teams.</a:t>
            </a:r>
          </a:p>
          <a:p>
            <a:pPr>
              <a:defRPr sz="1100">
                <a:solidFill>
                  <a:srgbClr val="F8FAFC"/>
                </a:solidFill>
                <a:latin typeface="Aptos"/>
              </a:defRPr>
            </a:pPr>
            <a:r>
              <a:t>Operate tightly with product, success, and leadership feedback loops.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0080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Cursor AE interview deck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0080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EEAD4"/>
                </a:solidFill>
                <a:latin typeface="Aptos"/>
              </a:rPr>
              <a:t>MARKET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241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Aptos Display"/>
              </a:rPr>
              <a:t>Why Cursor, 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My read on the market conditions that make this role compelling.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3429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5EEAD4"/>
                </a:solidFill>
                <a:latin typeface="Aptos"/>
              </a:rPr>
              <a:t>What buyers care about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40280"/>
            <a:ext cx="3429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8FAFC"/>
                </a:solidFill>
                <a:latin typeface="Aptos"/>
              </a:defRPr>
            </a:pPr>
            <a:r>
              <a:t>Engineering leaders need concrete productivity gains, not generic AI narratives.</a:t>
            </a:r>
          </a:p>
          <a:p>
            <a:pPr>
              <a:defRPr sz="1400">
                <a:solidFill>
                  <a:srgbClr val="F8FAFC"/>
                </a:solidFill>
                <a:latin typeface="Aptos"/>
              </a:defRPr>
            </a:pPr>
            <a:r>
              <a:t>Teams want tools developers actually love enough to use every day.</a:t>
            </a:r>
          </a:p>
          <a:p>
            <a:pPr>
              <a:defRPr sz="1400">
                <a:solidFill>
                  <a:srgbClr val="F8FAFC"/>
                </a:solidFill>
                <a:latin typeface="Aptos"/>
              </a:defRPr>
            </a:pPr>
            <a:r>
              <a:t>Security and governance must be part of the rollout conversation early.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1828800"/>
            <a:ext cx="3337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5EEAD4"/>
                </a:solidFill>
                <a:latin typeface="Aptos"/>
              </a:rPr>
              <a:t>Why Cursor is well positioned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2240280"/>
            <a:ext cx="3337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8FAFC"/>
                </a:solidFill>
                <a:latin typeface="Aptos"/>
              </a:defRPr>
            </a:pPr>
            <a:r>
              <a:t>The product sits directly inside the developer workflow where habits are formed.</a:t>
            </a:r>
          </a:p>
          <a:p>
            <a:pPr>
              <a:defRPr sz="1400">
                <a:solidFill>
                  <a:srgbClr val="F8FAFC"/>
                </a:solidFill>
                <a:latin typeface="Aptos"/>
              </a:defRPr>
            </a:pPr>
            <a:r>
              <a:t>The value story is intuitive: faster execution, better context, less toil.</a:t>
            </a:r>
          </a:p>
          <a:p>
            <a:pPr>
              <a:defRPr sz="1400">
                <a:solidFill>
                  <a:srgbClr val="F8FAFC"/>
                </a:solidFill>
                <a:latin typeface="Aptos"/>
              </a:defRPr>
            </a:pPr>
            <a:r>
              <a:t>Product enthusiasm creates a strong wedge for account expansion.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1828800"/>
            <a:ext cx="3520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5EEAD4"/>
                </a:solidFill>
                <a:latin typeface="Aptos"/>
              </a:rPr>
              <a:t>Where an AE can add leverage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2240280"/>
            <a:ext cx="3520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8FAFC"/>
                </a:solidFill>
                <a:latin typeface="Aptos"/>
              </a:defRPr>
            </a:pPr>
            <a:r>
              <a:t>Translate product pull into executive language around throughput and risk reduction.</a:t>
            </a:r>
          </a:p>
          <a:p>
            <a:pPr>
              <a:defRPr sz="1400">
                <a:solidFill>
                  <a:srgbClr val="F8FAFC"/>
                </a:solidFill>
                <a:latin typeface="Aptos"/>
              </a:defRPr>
            </a:pPr>
            <a:r>
              <a:t>Create stakeholder alignment so usage becomes standardized spend.</a:t>
            </a:r>
          </a:p>
          <a:p>
            <a:pPr>
              <a:defRPr sz="1400">
                <a:solidFill>
                  <a:srgbClr val="F8FAFC"/>
                </a:solidFill>
                <a:latin typeface="Aptos"/>
              </a:defRPr>
            </a:pPr>
            <a:r>
              <a:t>Build a disciplined operating cadence across sourcing, pilots, and expansions.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Cursor AE interview deck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0080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EEAD4"/>
                </a:solidFill>
                <a:latin typeface="Aptos"/>
              </a:rPr>
              <a:t>SEGMENTATION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241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Aptos Display"/>
              </a:rPr>
              <a:t>ICP and territory priorities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I would focus where urgency, workflow pain, and internal champions are most likely to converge.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474720" cy="3749039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9339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Priority A: engineering-led scaleups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3108960" cy="3063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  <a:latin typeface="Aptos"/>
              </a:defRPr>
            </a:pPr>
            <a:r>
              <a:t>Fast-moving software organizations with developer density.</a:t>
            </a:r>
          </a:p>
          <a:p>
            <a:pPr>
              <a:defRPr sz="1100">
                <a:solidFill>
                  <a:srgbClr val="F8FAFC"/>
                </a:solidFill>
                <a:latin typeface="Aptos"/>
              </a:defRPr>
            </a:pPr>
            <a:r>
              <a:t>VP Eng / CTO care about shipping speed and retaining strong talent.</a:t>
            </a:r>
          </a:p>
          <a:p>
            <a:pPr>
              <a:defRPr sz="1100">
                <a:solidFill>
                  <a:srgbClr val="F8FAFC"/>
                </a:solidFill>
                <a:latin typeface="Aptos"/>
              </a:defRPr>
            </a:pPr>
            <a:r>
              <a:t>Great fit for fast pilots and high-velocity expansions.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828800"/>
            <a:ext cx="3474720" cy="3749039"/>
          </a:xfrm>
          <a:prstGeom prst="roundRect">
            <a:avLst/>
          </a:prstGeom>
          <a:solidFill>
            <a:srgbClr val="18222E"/>
          </a:solidFill>
          <a:ln w="12700">
            <a:solidFill>
              <a:srgbClr val="1822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99339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Priority B: enterprise innovation teams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377440"/>
            <a:ext cx="3108960" cy="3063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  <a:latin typeface="Aptos"/>
              </a:defRPr>
            </a:pPr>
            <a:r>
              <a:t>Business units already experimenting with AI-enabled development.</a:t>
            </a:r>
          </a:p>
          <a:p>
            <a:pPr>
              <a:defRPr sz="1100">
                <a:solidFill>
                  <a:srgbClr val="F8FAFC"/>
                </a:solidFill>
                <a:latin typeface="Aptos"/>
              </a:defRPr>
            </a:pPr>
            <a:r>
              <a:t>Need governance, stakeholder coordination, and a credible rollout path.</a:t>
            </a:r>
          </a:p>
          <a:p>
            <a:pPr>
              <a:defRPr sz="1100">
                <a:solidFill>
                  <a:srgbClr val="F8FAFC"/>
                </a:solidFill>
                <a:latin typeface="Aptos"/>
              </a:defRPr>
            </a:pPr>
            <a:r>
              <a:t>High upside if one successful team becomes the internal reference account.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828800"/>
            <a:ext cx="3383280" cy="3749039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993392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Priority C: expansion inside active users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377440"/>
            <a:ext cx="3017520" cy="3063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  <a:latin typeface="Aptos"/>
              </a:defRPr>
            </a:pPr>
            <a:r>
              <a:t>Accounts where product usage or inbound interest is already visible.</a:t>
            </a:r>
          </a:p>
          <a:p>
            <a:pPr>
              <a:defRPr sz="1100">
                <a:solidFill>
                  <a:srgbClr val="F8FAFC"/>
                </a:solidFill>
                <a:latin typeface="Aptos"/>
              </a:defRPr>
            </a:pPr>
            <a:r>
              <a:t>Best route to efficient revenue: prove value, standardize, then scale.</a:t>
            </a:r>
          </a:p>
          <a:p>
            <a:pPr>
              <a:defRPr sz="1100">
                <a:solidFill>
                  <a:srgbClr val="F8FAFC"/>
                </a:solidFill>
                <a:latin typeface="Aptos"/>
              </a:defRPr>
            </a:pPr>
            <a:r>
              <a:t>Requires tight discovery, stakeholder mapping, and customer storytelling.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0080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Cursor AE interview deck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0080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EEAD4"/>
                </a:solidFill>
                <a:latin typeface="Aptos"/>
              </a:rPr>
              <a:t>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241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Aptos Display"/>
              </a:rPr>
              <a:t>My pipeline generation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A balanced approach that mixes signal-based prospecting with customer-led storytelling.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651760" cy="35661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93392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Product signals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228600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  <a:latin typeface="Aptos"/>
              </a:defRPr>
            </a:pPr>
            <a:r>
              <a:t>Prioritize accounts showing developer curiosity or grassroots adoption.</a:t>
            </a:r>
          </a:p>
          <a:p>
            <a:pPr>
              <a:defRPr sz="1100">
                <a:solidFill>
                  <a:srgbClr val="F8FAFC"/>
                </a:solidFill>
                <a:latin typeface="Aptos"/>
              </a:defRPr>
            </a:pPr>
            <a:r>
              <a:t>Use these signals to make outreach timely and specific.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1880" y="1828800"/>
            <a:ext cx="2651760" cy="3566160"/>
          </a:xfrm>
          <a:prstGeom prst="roundRect">
            <a:avLst/>
          </a:prstGeom>
          <a:solidFill>
            <a:srgbClr val="18222E"/>
          </a:solidFill>
          <a:ln w="12700">
            <a:solidFill>
              <a:srgbClr val="1822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4760" y="1993392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Persona-led outreach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2377440"/>
            <a:ext cx="228600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  <a:latin typeface="Aptos"/>
              </a:defRPr>
            </a:pPr>
            <a:r>
              <a:t>Different message for VP Eng, DevEx, security, and team leaders.</a:t>
            </a:r>
          </a:p>
          <a:p>
            <a:pPr>
              <a:defRPr sz="1100">
                <a:solidFill>
                  <a:srgbClr val="F8FAFC"/>
                </a:solidFill>
                <a:latin typeface="Aptos"/>
              </a:defRPr>
            </a:pPr>
            <a:r>
              <a:t>Lead with workflow outcomes each persona can own.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1828800"/>
            <a:ext cx="2651760" cy="35661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993392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Social proof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377440"/>
            <a:ext cx="228600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  <a:latin typeface="Aptos"/>
              </a:defRPr>
            </a:pPr>
            <a:r>
              <a:t>Package success stories by company type and use case.</a:t>
            </a:r>
          </a:p>
          <a:p>
            <a:pPr>
              <a:defRPr sz="1100">
                <a:solidFill>
                  <a:srgbClr val="F8FAFC"/>
                </a:solidFill>
                <a:latin typeface="Aptos"/>
              </a:defRPr>
            </a:pPr>
            <a:r>
              <a:t>Turn customer outcomes into credibility for each next meeting.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72600" y="1828800"/>
            <a:ext cx="1920240" cy="3566160"/>
          </a:xfrm>
          <a:prstGeom prst="roundRect">
            <a:avLst/>
          </a:prstGeom>
          <a:solidFill>
            <a:srgbClr val="18222E"/>
          </a:solidFill>
          <a:ln w="12700">
            <a:solidFill>
              <a:srgbClr val="1822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55480" y="1993392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Discipline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55480" y="2377440"/>
            <a:ext cx="155448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  <a:latin typeface="Aptos"/>
              </a:defRPr>
            </a:pPr>
            <a:r>
              <a:t>Weekly review of target accounts, meeting quality, pipeline stage health, and next steps.</a:t>
            </a:r>
          </a:p>
          <a:p>
            <a:pPr>
              <a:defRPr sz="1100">
                <a:solidFill>
                  <a:srgbClr val="F8FAFC"/>
                </a:solidFill>
                <a:latin typeface="Aptos"/>
              </a:defRPr>
            </a:pPr>
            <a:r>
              <a:t>High standards on follow-up and multi-threading.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0080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Cursor AE interview deck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0080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EEAD4"/>
                </a:solidFill>
                <a:latin typeface="Aptos"/>
              </a:rPr>
              <a:t>SALES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241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Aptos Display"/>
              </a:rPr>
              <a:t>Discovery -&gt; POV -&gt; rollout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The sales motion I would run to convert excitement into durable adoption.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212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5EEAD4"/>
                </a:solidFill>
                <a:latin typeface="Aptos"/>
              </a:rPr>
              <a:t>Deal motion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40280"/>
            <a:ext cx="5212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8FAFC"/>
                </a:solidFill>
                <a:latin typeface="Aptos"/>
              </a:defRPr>
            </a:pPr>
            <a:r>
              <a:t>1. Discovery: isolate high-friction engineering workflows and current tooling gaps.</a:t>
            </a:r>
          </a:p>
          <a:p>
            <a:pPr>
              <a:defRPr sz="1400">
                <a:solidFill>
                  <a:srgbClr val="F8FAFC"/>
                </a:solidFill>
                <a:latin typeface="Aptos"/>
              </a:defRPr>
            </a:pPr>
            <a:r>
              <a:t>2. Success criteria: agree on what a strong pilot outcome looks like before it starts.</a:t>
            </a:r>
          </a:p>
          <a:p>
            <a:pPr>
              <a:defRPr sz="1400">
                <a:solidFill>
                  <a:srgbClr val="F8FAFC"/>
                </a:solidFill>
                <a:latin typeface="Aptos"/>
              </a:defRPr>
            </a:pPr>
            <a:r>
              <a:t>3. POV: make the product prove value inside a real team workflow, not a synthetic demo.</a:t>
            </a:r>
          </a:p>
          <a:p>
            <a:pPr>
              <a:defRPr sz="1400">
                <a:solidFill>
                  <a:srgbClr val="F8FAFC"/>
                </a:solidFill>
                <a:latin typeface="Aptos"/>
              </a:defRPr>
            </a:pPr>
            <a:r>
              <a:t>4. Rollout plan: define who expands usage, who approves spend, and how adoption will be measured.</a:t>
            </a:r>
          </a:p>
          <a:p>
            <a:pPr>
              <a:defRPr sz="1400">
                <a:solidFill>
                  <a:srgbClr val="F8FAFC"/>
                </a:solidFill>
                <a:latin typeface="Aptos"/>
              </a:defRPr>
            </a:pPr>
            <a:r>
              <a:t>5. Expansion: reuse the win story to open adjacent teams and higher-level sponsors.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920240"/>
            <a:ext cx="4937760" cy="35661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2084832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Stakeholders I want mapped early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468880"/>
            <a:ext cx="457200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  <a:latin typeface="Aptos"/>
              </a:defRPr>
            </a:pPr>
            <a:r>
              <a:t>Champion: staff engineer / eng manager who can validate workflow improvement.</a:t>
            </a:r>
          </a:p>
          <a:p>
            <a:pPr>
              <a:defRPr sz="1100">
                <a:solidFill>
                  <a:srgbClr val="F8FAFC"/>
                </a:solidFill>
                <a:latin typeface="Aptos"/>
              </a:defRPr>
            </a:pPr>
            <a:r>
              <a:t>Economic buyer: VP Eng, CTO, or budget owner tied to productivity.</a:t>
            </a:r>
          </a:p>
          <a:p>
            <a:pPr>
              <a:defRPr sz="1100">
                <a:solidFill>
                  <a:srgbClr val="F8FAFC"/>
                </a:solidFill>
                <a:latin typeface="Aptos"/>
              </a:defRPr>
            </a:pPr>
            <a:r>
              <a:t>Security / IT: needed for procurement confidence and rollout speed.</a:t>
            </a:r>
          </a:p>
          <a:p>
            <a:pPr>
              <a:defRPr sz="1100">
                <a:solidFill>
                  <a:srgbClr val="F8FAFC"/>
                </a:solidFill>
                <a:latin typeface="Aptos"/>
              </a:defRPr>
            </a:pPr>
            <a:r>
              <a:t>Executive sponsor: leader who can help standardize usage across teams.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0080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Cursor AE interview deck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0080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EEAD4"/>
                </a:solidFill>
                <a:latin typeface="Aptos"/>
              </a:rPr>
              <a:t>EXPANSION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241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Aptos Display"/>
              </a:rPr>
              <a:t>Land, prove value, expand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My account planning lens for turning one win into a larger revenue story.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3429000" cy="35661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8483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Land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306324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  <a:latin typeface="Aptos"/>
              </a:defRPr>
            </a:pPr>
            <a:r>
              <a:t>Start with a motivated team and a crisp business problem.</a:t>
            </a:r>
          </a:p>
          <a:p>
            <a:pPr>
              <a:defRPr sz="1100">
                <a:solidFill>
                  <a:srgbClr val="F8FAFC"/>
                </a:solidFill>
                <a:latin typeface="Aptos"/>
              </a:defRPr>
            </a:pPr>
            <a:r>
              <a:t>Keep scope small enough to move fast, but visible enough to matter.</a:t>
            </a:r>
          </a:p>
          <a:p>
            <a:pPr>
              <a:defRPr sz="1100">
                <a:solidFill>
                  <a:srgbClr val="F8FAFC"/>
                </a:solidFill>
                <a:latin typeface="Aptos"/>
              </a:defRPr>
            </a:pPr>
            <a:r>
              <a:t>Document the internal narrative before the pilot begins.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920240"/>
            <a:ext cx="3429000" cy="3566160"/>
          </a:xfrm>
          <a:prstGeom prst="roundRect">
            <a:avLst/>
          </a:prstGeom>
          <a:solidFill>
            <a:srgbClr val="18222E"/>
          </a:solidFill>
          <a:ln w="12700">
            <a:solidFill>
              <a:srgbClr val="1822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08483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Prove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468880"/>
            <a:ext cx="306324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  <a:latin typeface="Aptos"/>
              </a:defRPr>
            </a:pPr>
            <a:r>
              <a:t>Tie user feedback to concrete workflow improvements and adoption patterns.</a:t>
            </a:r>
          </a:p>
          <a:p>
            <a:pPr>
              <a:defRPr sz="1100">
                <a:solidFill>
                  <a:srgbClr val="F8FAFC"/>
                </a:solidFill>
                <a:latin typeface="Aptos"/>
              </a:defRPr>
            </a:pPr>
            <a:r>
              <a:t>Create a simple readout the champion can carry upward.</a:t>
            </a:r>
          </a:p>
          <a:p>
            <a:pPr>
              <a:defRPr sz="1100">
                <a:solidFill>
                  <a:srgbClr val="F8FAFC"/>
                </a:solidFill>
                <a:latin typeface="Aptos"/>
              </a:defRPr>
            </a:pPr>
            <a:r>
              <a:t>Show why the product belongs in the standard toolchain.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920240"/>
            <a:ext cx="3429000" cy="35661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208483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Expand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468880"/>
            <a:ext cx="306324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  <a:latin typeface="Aptos"/>
              </a:defRPr>
            </a:pPr>
            <a:r>
              <a:t>Sequence adjacent teams by similarity of pain and leadership structure.</a:t>
            </a:r>
          </a:p>
          <a:p>
            <a:pPr>
              <a:defRPr sz="1100">
                <a:solidFill>
                  <a:srgbClr val="F8FAFC"/>
                </a:solidFill>
                <a:latin typeface="Aptos"/>
              </a:defRPr>
            </a:pPr>
            <a:r>
              <a:t>Use early champions to recruit second-order champions.</a:t>
            </a:r>
          </a:p>
          <a:p>
            <a:pPr>
              <a:defRPr sz="1100">
                <a:solidFill>
                  <a:srgbClr val="F8FAFC"/>
                </a:solidFill>
                <a:latin typeface="Aptos"/>
              </a:defRPr>
            </a:pPr>
            <a:r>
              <a:t>Protect renewals by staying close to realized value, not shelfware risk.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0080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Cursor AE interview deck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0080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EEAD4"/>
                </a:solidFill>
                <a:latin typeface="Aptos"/>
              </a:rPr>
              <a:t>RAMP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241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Aptos Display"/>
              </a:rPr>
              <a:t>30 / 60 / 90 day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The first quarter should balance product fluency, target account focus, and execution discipline.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74519"/>
            <a:ext cx="3474720" cy="37947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39111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Days 1-30: learn and calibrate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23159"/>
            <a:ext cx="3108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  <a:latin typeface="Aptos"/>
              </a:defRPr>
            </a:pPr>
            <a:r>
              <a:t>Deepen product fluency and customer language.</a:t>
            </a:r>
          </a:p>
          <a:p>
            <a:pPr>
              <a:defRPr sz="1100">
                <a:solidFill>
                  <a:srgbClr val="F8FAFC"/>
                </a:solidFill>
                <a:latin typeface="Aptos"/>
              </a:defRPr>
            </a:pPr>
            <a:r>
              <a:t>Review won/lost deals and listen for repeatable patterns.</a:t>
            </a:r>
          </a:p>
          <a:p>
            <a:pPr>
              <a:defRPr sz="1100">
                <a:solidFill>
                  <a:srgbClr val="F8FAFC"/>
                </a:solidFill>
                <a:latin typeface="Aptos"/>
              </a:defRPr>
            </a:pPr>
            <a:r>
              <a:t>Build a target account list and first-pass stakeholder hypotheses.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874519"/>
            <a:ext cx="3474720" cy="3794760"/>
          </a:xfrm>
          <a:prstGeom prst="roundRect">
            <a:avLst/>
          </a:prstGeom>
          <a:solidFill>
            <a:srgbClr val="18222E"/>
          </a:solidFill>
          <a:ln w="12700">
            <a:solidFill>
              <a:srgbClr val="1822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039111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Days 31-60: build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423159"/>
            <a:ext cx="3108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  <a:latin typeface="Aptos"/>
              </a:defRPr>
            </a:pPr>
            <a:r>
              <a:t>Launch account-based outreach with crisp persona messaging.</a:t>
            </a:r>
          </a:p>
          <a:p>
            <a:pPr>
              <a:defRPr sz="1100">
                <a:solidFill>
                  <a:srgbClr val="F8FAFC"/>
                </a:solidFill>
                <a:latin typeface="Aptos"/>
              </a:defRPr>
            </a:pPr>
            <a:r>
              <a:t>Convert early meetings into proof-oriented next steps.</a:t>
            </a:r>
          </a:p>
          <a:p>
            <a:pPr>
              <a:defRPr sz="1100">
                <a:solidFill>
                  <a:srgbClr val="F8FAFC"/>
                </a:solidFill>
                <a:latin typeface="Aptos"/>
              </a:defRPr>
            </a:pPr>
            <a:r>
              <a:t>Pressure test discovery and pilot motions with manager feedback.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874519"/>
            <a:ext cx="3429000" cy="37947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2039111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Days 61-90: create momentum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423159"/>
            <a:ext cx="30632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  <a:latin typeface="Aptos"/>
              </a:defRPr>
            </a:pPr>
            <a:r>
              <a:t>Advance qualified opportunities with clear mutual action plans.</a:t>
            </a:r>
          </a:p>
          <a:p>
            <a:pPr>
              <a:defRPr sz="1100">
                <a:solidFill>
                  <a:srgbClr val="F8FAFC"/>
                </a:solidFill>
                <a:latin typeface="Aptos"/>
              </a:defRPr>
            </a:pPr>
            <a:r>
              <a:t>Establish expansion paths inside the strongest early accounts.</a:t>
            </a:r>
          </a:p>
          <a:p>
            <a:pPr>
              <a:defRPr sz="1100">
                <a:solidFill>
                  <a:srgbClr val="F8FAFC"/>
                </a:solidFill>
                <a:latin typeface="Aptos"/>
              </a:defRPr>
            </a:pPr>
            <a:r>
              <a:t>Share what is working across messaging, personas, and customer objections.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0080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Cursor AE interview deck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0080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EEAD4"/>
                </a:solidFill>
                <a:latin typeface="Aptos"/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241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Aptos Display"/>
              </a:rPr>
              <a:t>Operating cadence and scorecard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The numbers I would watch to keep quality high and surprises low.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07040" cy="658368"/>
          </a:xfrm>
          <a:prstGeom prst="roundRect">
            <a:avLst/>
          </a:prstGeom>
          <a:solidFill>
            <a:srgbClr val="161B22"/>
          </a:solidFill>
          <a:ln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938528"/>
            <a:ext cx="1554480" cy="411480"/>
          </a:xfrm>
          <a:prstGeom prst="roundRect">
            <a:avLst/>
          </a:prstGeom>
          <a:solidFill>
            <a:srgbClr val="5EEAD4"/>
          </a:solidFill>
          <a:ln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1417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D1117"/>
                </a:solidFill>
                <a:latin typeface="Aptos"/>
              </a:rPr>
              <a:t>Coverage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80" y="1938528"/>
            <a:ext cx="1325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3-4x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1975104"/>
            <a:ext cx="7040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tos"/>
              </a:rPr>
              <a:t>Pipeline coverage by quarter, segmented by new logos, pilot expansions, and strategic bets.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697480"/>
            <a:ext cx="10607040" cy="658368"/>
          </a:xfrm>
          <a:prstGeom prst="roundRect">
            <a:avLst/>
          </a:prstGeom>
          <a:solidFill>
            <a:srgbClr val="161B22"/>
          </a:solidFill>
          <a:ln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8680" y="2807208"/>
            <a:ext cx="1554480" cy="411480"/>
          </a:xfrm>
          <a:prstGeom prst="roundRect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862072"/>
            <a:ext cx="1417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D1117"/>
                </a:solidFill>
                <a:latin typeface="Aptos"/>
              </a:rPr>
              <a:t>Velocity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2807208"/>
            <a:ext cx="1325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Tracked weekly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7639" y="2843784"/>
            <a:ext cx="7040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tos"/>
              </a:rPr>
              <a:t>Stage progression, next-step hygiene, and time-to-pilot / time-to-close.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566160"/>
            <a:ext cx="10607040" cy="658368"/>
          </a:xfrm>
          <a:prstGeom prst="roundRect">
            <a:avLst/>
          </a:prstGeom>
          <a:solidFill>
            <a:srgbClr val="161B22"/>
          </a:solidFill>
          <a:ln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68680" y="3675888"/>
            <a:ext cx="1554480" cy="411480"/>
          </a:xfrm>
          <a:prstGeom prst="roundRect">
            <a:avLst/>
          </a:prstGeom>
          <a:solidFill>
            <a:srgbClr val="4ADE80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3730752"/>
            <a:ext cx="1417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D1117"/>
                </a:solidFill>
                <a:latin typeface="Aptos"/>
              </a:rPr>
              <a:t>Adoption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3675888"/>
            <a:ext cx="1325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Core leading signal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39" y="3712464"/>
            <a:ext cx="7040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tos"/>
              </a:rPr>
              <a:t>Pilot engagement, champion energy, and evidence the product is entering daily workflow.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434840"/>
            <a:ext cx="10607040" cy="658368"/>
          </a:xfrm>
          <a:prstGeom prst="roundRect">
            <a:avLst/>
          </a:prstGeom>
          <a:solidFill>
            <a:srgbClr val="161B22"/>
          </a:solidFill>
          <a:ln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68680" y="4544568"/>
            <a:ext cx="1554480" cy="411480"/>
          </a:xfrm>
          <a:prstGeom prst="roundRect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4599432"/>
            <a:ext cx="1417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D1117"/>
                </a:solidFill>
                <a:latin typeface="Aptos"/>
              </a:rPr>
              <a:t>Risk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7480" y="4544568"/>
            <a:ext cx="1325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No silent deals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77639" y="4581144"/>
            <a:ext cx="7040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tos"/>
              </a:rPr>
              <a:t>Every meaningful opportunity has an identified blocker, owner, and date to resolve it.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669280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Operating principle: tight inspection without micromanaging the customer journey.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40080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Cursor AE interview deck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0080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EEAD4"/>
                </a:solidFill>
                <a:latin typeface="Aptos"/>
              </a:rPr>
              <a:t>POSITIONING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241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Aptos Display"/>
              </a:rPr>
              <a:t>Handling objections and competitive pressure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I prefer to de-risk decisions by making the evaluation concrete and customer-specific.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38862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93392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Common objections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  <a:latin typeface="Aptos"/>
              </a:defRPr>
            </a:pPr>
            <a:r>
              <a:t>"We already have another AI coding tool."</a:t>
            </a:r>
          </a:p>
          <a:p>
            <a:pPr>
              <a:defRPr sz="1100">
                <a:solidFill>
                  <a:srgbClr val="F8FAFC"/>
                </a:solidFill>
                <a:latin typeface="Aptos"/>
              </a:defRPr>
            </a:pPr>
            <a:r>
              <a:t>"Security and governance are not ready yet."</a:t>
            </a:r>
          </a:p>
          <a:p>
            <a:pPr>
              <a:defRPr sz="1100">
                <a:solidFill>
                  <a:srgbClr val="F8FAFC"/>
                </a:solidFill>
                <a:latin typeface="Aptos"/>
              </a:defRPr>
            </a:pPr>
            <a:r>
              <a:t>"I like it, but I cannot justify broader rollout today."</a:t>
            </a:r>
          </a:p>
          <a:p>
            <a:pPr>
              <a:defRPr sz="1100">
                <a:solidFill>
                  <a:srgbClr val="F8FAFC"/>
                </a:solidFill>
                <a:latin typeface="Aptos"/>
              </a:defRPr>
            </a:pPr>
            <a:r>
              <a:t>"Developers may test it, but that does not mean the business should buy it."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828800"/>
            <a:ext cx="5212080" cy="3886200"/>
          </a:xfrm>
          <a:prstGeom prst="roundRect">
            <a:avLst/>
          </a:prstGeom>
          <a:solidFill>
            <a:srgbClr val="18222E"/>
          </a:solidFill>
          <a:ln w="12700">
            <a:solidFill>
              <a:srgbClr val="1822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993392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My response pattern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37744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  <a:latin typeface="Aptos"/>
              </a:defRPr>
            </a:pPr>
            <a:r>
              <a:t>Clarify the actual job to be done and where the current workflow still breaks.</a:t>
            </a:r>
          </a:p>
          <a:p>
            <a:pPr>
              <a:defRPr sz="1100">
                <a:solidFill>
                  <a:srgbClr val="F8FAFC"/>
                </a:solidFill>
                <a:latin typeface="Aptos"/>
              </a:defRPr>
            </a:pPr>
            <a:r>
              <a:t>Anchor on evaluation criteria tied to team outcomes, not feature checklists alone.</a:t>
            </a:r>
          </a:p>
          <a:p>
            <a:pPr>
              <a:defRPr sz="1100">
                <a:solidFill>
                  <a:srgbClr val="F8FAFC"/>
                </a:solidFill>
                <a:latin typeface="Aptos"/>
              </a:defRPr>
            </a:pPr>
            <a:r>
              <a:t>Bring in the right stakeholder early so procurement or security does not become a late surprise.</a:t>
            </a:r>
          </a:p>
          <a:p>
            <a:pPr>
              <a:defRPr sz="1100">
                <a:solidFill>
                  <a:srgbClr val="F8FAFC"/>
                </a:solidFill>
                <a:latin typeface="Aptos"/>
              </a:defRPr>
            </a:pPr>
            <a:r>
              <a:t>Offer a rollout path that is easy to approve because the proof already exists.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Cursor AE interview deck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0080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EEAD4"/>
                </a:solidFill>
                <a:latin typeface="Aptos"/>
              </a:rPr>
              <a:t>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241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Aptos Display"/>
              </a:rPr>
              <a:t>Why me for this role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Replace the placeholders below with your strongest, most relevant proof points.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4937760" cy="3977639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93392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Proof points to customize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4572000" cy="3291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  <a:latin typeface="Aptos"/>
              </a:defRPr>
            </a:pPr>
            <a:r>
              <a:t>Replace with a headline result, e.g. 142% of quota across strategic accounts.</a:t>
            </a:r>
          </a:p>
          <a:p>
            <a:pPr>
              <a:defRPr sz="1100">
                <a:solidFill>
                  <a:srgbClr val="F8FAFC"/>
                </a:solidFill>
                <a:latin typeface="Aptos"/>
              </a:defRPr>
            </a:pPr>
            <a:r>
              <a:t>Replace with a customer story, e.g. grew a pilot into a 6-figure expansion.</a:t>
            </a:r>
          </a:p>
          <a:p>
            <a:pPr>
              <a:defRPr sz="1100">
                <a:solidFill>
                  <a:srgbClr val="F8FAFC"/>
                </a:solidFill>
                <a:latin typeface="Aptos"/>
              </a:defRPr>
            </a:pPr>
            <a:r>
              <a:t>Replace with a GTM example, e.g. built outbound plays for a new product line.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1828800"/>
            <a:ext cx="5440680" cy="3977639"/>
          </a:xfrm>
          <a:prstGeom prst="roundRect">
            <a:avLst/>
          </a:prstGeom>
          <a:solidFill>
            <a:srgbClr val="18222E"/>
          </a:solidFill>
          <a:ln w="12700">
            <a:solidFill>
              <a:srgbClr val="1822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72200" y="1993392"/>
            <a:ext cx="5074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Closing statement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2377440"/>
            <a:ext cx="5074920" cy="3291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  <a:latin typeface="Aptos"/>
              </a:defRPr>
            </a:pPr>
            <a:r>
              <a:t>I bring a disciplined sales process and enough curiosity to earn credibility with technical buyers.</a:t>
            </a:r>
          </a:p>
          <a:p>
            <a:pPr>
              <a:defRPr sz="1100">
                <a:solidFill>
                  <a:srgbClr val="F8FAFC"/>
                </a:solidFill>
                <a:latin typeface="Aptos"/>
              </a:defRPr>
            </a:pPr>
            <a:r>
              <a:t>I know how to turn product excitement into stakeholder alignment and revenue momentum.</a:t>
            </a:r>
          </a:p>
          <a:p>
            <a:pPr>
              <a:defRPr sz="1100">
                <a:solidFill>
                  <a:srgbClr val="F8FAFC"/>
                </a:solidFill>
                <a:latin typeface="Aptos"/>
              </a:defRPr>
            </a:pPr>
            <a:r>
              <a:t>If I joined Cursor, my goal would be to help build a category-defining sales motion around an exceptional product.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Cursor AE interview deck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0080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EEAD4"/>
                </a:solidFill>
                <a:latin typeface="Aptos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241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Aptos Display"/>
              </a:rPr>
              <a:t>Questions I'd ask in the interview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Useful if they want the presentation to feel collaborative rather than one-way.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5EEAD4"/>
                </a:solidFill>
                <a:latin typeface="Aptos"/>
              </a:rPr>
              <a:t>Sample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4028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8FAFC"/>
                </a:solidFill>
                <a:latin typeface="Aptos"/>
              </a:defRPr>
            </a:pPr>
            <a:r>
              <a:t>Which customer profiles are expanding fastest today, and what do those wins have in common?</a:t>
            </a:r>
          </a:p>
          <a:p>
            <a:pPr>
              <a:defRPr sz="1400">
                <a:solidFill>
                  <a:srgbClr val="F8FAFC"/>
                </a:solidFill>
                <a:latin typeface="Aptos"/>
              </a:defRPr>
            </a:pPr>
            <a:r>
              <a:t>Where do deals tend to stall most often: technical validation, security, procurement, or stakeholder alignment?</a:t>
            </a:r>
          </a:p>
          <a:p>
            <a:pPr>
              <a:defRPr sz="1400">
                <a:solidFill>
                  <a:srgbClr val="F8FAFC"/>
                </a:solidFill>
                <a:latin typeface="Aptos"/>
              </a:defRPr>
            </a:pPr>
            <a:r>
              <a:t>How do the best AEs at Cursor work with product and customer success to accelerate rollout quality?</a:t>
            </a:r>
          </a:p>
          <a:p>
            <a:pPr>
              <a:defRPr sz="1400">
                <a:solidFill>
                  <a:srgbClr val="F8FAFC"/>
                </a:solidFill>
                <a:latin typeface="Aptos"/>
              </a:defRPr>
            </a:pPr>
            <a:r>
              <a:t>What leading signals tell you an account is likely to become a durable multi-team customer?</a:t>
            </a:r>
          </a:p>
          <a:p>
            <a:pPr>
              <a:defRPr sz="1400">
                <a:solidFill>
                  <a:srgbClr val="F8FAFC"/>
                </a:solidFill>
                <a:latin typeface="Aptos"/>
              </a:defRPr>
            </a:pPr>
            <a:r>
              <a:t>What do you want this hire to prove in the first few months that would feel like a clear win?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Cursor AE interview deck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