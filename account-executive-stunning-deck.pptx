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Buyer Evaluation Criteria Intensified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Price Sensitivity</c:v>
                </c:pt>
                <c:pt idx="1">
                  <c:v>Security Requirements</c:v>
                </c:pt>
                <c:pt idx="2">
                  <c:v>ROI Scrutiny</c:v>
                </c:pt>
                <c:pt idx="3">
                  <c:v>Multi-threaded Buying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62</c:v>
                </c:pt>
                <c:pt idx="2">
                  <c:v>64</c:v>
                </c:pt>
                <c:pt idx="3">
                  <c:v>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Price Sensitivity</c:v>
                </c:pt>
                <c:pt idx="1">
                  <c:v>Security Requirements</c:v>
                </c:pt>
                <c:pt idx="2">
                  <c:v>ROI Scrutiny</c:v>
                </c:pt>
                <c:pt idx="3">
                  <c:v>Multi-threaded Buying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72</c:v>
                </c:pt>
                <c:pt idx="1">
                  <c:v>81</c:v>
                </c:pt>
                <c:pt idx="2">
                  <c:v>85</c:v>
                </c:pt>
                <c:pt idx="3">
                  <c:v>71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%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Discovery→Demo</c:v>
                </c:pt>
                <c:pt idx="1">
                  <c:v>Demo→Proposal</c:v>
                </c:pt>
                <c:pt idx="2">
                  <c:v>Proposal→Close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58</c:v>
                </c:pt>
                <c:pt idx="2">
                  <c:v>44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241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How I Drive Predictable Revenue Growth</a:t>
            </a:r>
          </a:p>
          <a:p>
            <a:pPr>
              <a:spcBef>
                <a:spcPts val="1400"/>
              </a:spcBef>
              <a:defRPr sz="2400">
                <a:solidFill>
                  <a:srgbClr val="D2E1F5"/>
                </a:solidFill>
              </a:defRPr>
            </a:pPr>
            <a:r>
              <a:t>Account Executive Business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389120"/>
            <a:ext cx="9875520" cy="1097280"/>
          </a:xfrm>
          <a:prstGeom prst="round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 convert strategic accounts into efficient, forecastable growth through disciplined pipeline execution.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</a:defRPr>
            </a:pPr>
            <a:r>
              <a:t>Revenue: 118% of quarter target achieved with healthy mix across new logo and expansion.</a:t>
            </a:r>
          </a:p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</a:defRPr>
            </a:pPr>
            <a:r>
              <a:t>Pipeline: 3.2x coverage, with late-stage quality improving and aging opportunities reduced.</a:t>
            </a:r>
          </a:p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</a:defRPr>
            </a:pPr>
            <a:r>
              <a:t>Focus: Protect Q+1 forecast while accelerating top 20 strategic accounts and partner-sourced opportunities.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Market &amp; Customer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12A4A"/>
                </a:solidFill>
              </a:rPr>
              <a:t>What changed and how we adapted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828800"/>
          <a:ext cx="566928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75120" y="1828800"/>
            <a:ext cx="41148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112A4A"/>
                </a:solidFill>
              </a:defRPr>
            </a:pPr>
            <a:r>
              <a:t>Key Insight</a:t>
            </a:r>
          </a:p>
          <a:p>
            <a:pPr>
              <a:spcBef>
                <a:spcPts val="1000"/>
              </a:spcBef>
              <a:defRPr sz="1400">
                <a:solidFill>
                  <a:srgbClr val="282828"/>
                </a:solidFill>
              </a:defRPr>
            </a:pPr>
            <a:r>
              <a:t>- Customers require quantifiable business cases earlier.</a:t>
            </a:r>
          </a:p>
          <a:p>
            <a:pPr>
              <a:spcBef>
                <a:spcPts val="1000"/>
              </a:spcBef>
              <a:defRPr sz="1400">
                <a:solidFill>
                  <a:srgbClr val="282828"/>
                </a:solidFill>
              </a:defRPr>
            </a:pPr>
            <a:r>
              <a:t>- Deals close faster when legal/security stakeholders are engaged in discovery.</a:t>
            </a:r>
          </a:p>
          <a:p>
            <a:pPr>
              <a:spcBef>
                <a:spcPts val="1000"/>
              </a:spcBef>
              <a:defRPr sz="1400">
                <a:solidFill>
                  <a:srgbClr val="282828"/>
                </a:solidFill>
              </a:defRPr>
            </a:pPr>
            <a:r>
              <a:t>- Multi-threading 3+ champions raised close rates significantly.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Performance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12A4A"/>
                </a:solidFill>
              </a:rPr>
              <a:t>Current quarter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011680"/>
            <a:ext cx="164592" cy="164592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882"/>
                </a:solidFill>
              </a:defRPr>
            </a:pPr>
            <a:r>
              <a:t>Quota Attainment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A4A"/>
                </a:solidFill>
              </a:defRPr>
            </a:pPr>
            <a:r>
              <a:t>118%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82880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30752" y="2011680"/>
            <a:ext cx="164592" cy="164592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19659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882"/>
                </a:solidFill>
              </a:defRPr>
            </a:pPr>
            <a:r>
              <a:t>Win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33172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A4A"/>
                </a:solidFill>
              </a:defRPr>
            </a:pPr>
            <a:r>
              <a:t>34%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2880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73952" y="2011680"/>
            <a:ext cx="164592" cy="16459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9659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882"/>
                </a:solidFill>
              </a:defRPr>
            </a:pPr>
            <a:r>
              <a:t>Avg Deal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3172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A4A"/>
                </a:solidFill>
              </a:defRPr>
            </a:pPr>
            <a:r>
              <a:t>$84K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82880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17152" y="2011680"/>
            <a:ext cx="164592" cy="164592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19659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882"/>
                </a:solidFill>
              </a:defRPr>
            </a:pPr>
            <a:r>
              <a:t>Sales 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33172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A4A"/>
                </a:solidFill>
              </a:defRPr>
            </a:pPr>
            <a:r>
              <a:t>61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8404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Top performance driver: expansion plays in installed base with executive alignment.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Primary improvement area: increase enterprise average contract value through solution bundling.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Pipeline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12A4A"/>
                </a:solidFill>
              </a:rPr>
              <a:t>Healthy pipeline is defined by conversion and velocity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828800"/>
          <a:ext cx="53035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1828800"/>
            <a:ext cx="43891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2A4A"/>
                </a:solidFill>
              </a:defRPr>
            </a:pPr>
            <a:r>
              <a:t>Pipeline Health Checks</a:t>
            </a:r>
          </a:p>
          <a:p>
            <a:pPr>
              <a:spcBef>
                <a:spcPts val="800"/>
              </a:spcBef>
              <a:defRPr sz="1400"/>
            </a:pPr>
            <a:r>
              <a:t>• Coverage ratio: 3.2x vs 3.0x target</a:t>
            </a:r>
          </a:p>
          <a:p>
            <a:pPr>
              <a:spcBef>
                <a:spcPts val="800"/>
              </a:spcBef>
              <a:defRPr sz="1400"/>
            </a:pPr>
            <a:r>
              <a:t>• Aging deals (&gt;90 days): down 27%</a:t>
            </a:r>
          </a:p>
          <a:p>
            <a:pPr>
              <a:spcBef>
                <a:spcPts val="800"/>
              </a:spcBef>
              <a:defRPr sz="1400"/>
            </a:pPr>
            <a:r>
              <a:t>• Forecast confidence (commit): 86%</a:t>
            </a:r>
          </a:p>
          <a:p>
            <a:pPr>
              <a:spcBef>
                <a:spcPts val="800"/>
              </a:spcBef>
              <a:defRPr sz="1400"/>
            </a:pPr>
            <a:r>
              <a:t>• Next action logged in 100% of stage 3+ opps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Top Wins &amp; Why We Won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9966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12A4A"/>
                </a:solidFill>
              </a:defRPr>
            </a:pPr>
            <a:r>
              <a:t>Acme Manufacturing | $210K ARR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Won by quantifying 8-month payback and aligning Ops + Finance stakeholders.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17520"/>
            <a:ext cx="9966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12A4A"/>
                </a:solidFill>
              </a:defRPr>
            </a:pPr>
            <a:r>
              <a:t>Northstar Health | $175K ARR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Security-first discovery and legal pre-alignment removed procurement delays.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80560"/>
            <a:ext cx="9966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12A4A"/>
                </a:solidFill>
              </a:defRPr>
            </a:pPr>
            <a:r>
              <a:t>Summit Retail Group | $132K ARR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Partner co-sell motion unlocked executive access and shortened cycle by 19 days.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Losses &amp;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12A4A"/>
                </a:solidFill>
              </a:rPr>
              <a:t>Turning misses into repeatable improvements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12A4A"/>
                </a:solidFill>
              </a:defRPr>
            </a:pPr>
            <a:r>
              <a:t>Recent Losses</a:t>
            </a:r>
          </a:p>
          <a:p>
            <a:pPr>
              <a:spcBef>
                <a:spcPts val="1000"/>
              </a:spcBef>
              <a:defRPr sz="1400"/>
            </a:pPr>
            <a:r>
              <a:t>• Bluewave Logistics ($160K): Competitive discount pressure in final stage.</a:t>
            </a:r>
          </a:p>
          <a:p>
            <a:pPr>
              <a:spcBef>
                <a:spcPts val="1000"/>
              </a:spcBef>
              <a:defRPr sz="1400"/>
            </a:pPr>
            <a:r>
              <a:t>• Orchid Financial ($140K): Late engagement with compliance stakeholders.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73736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12A4A"/>
                </a:solidFill>
              </a:defRPr>
            </a:pPr>
            <a:r>
              <a:t>Corrective Actions</a:t>
            </a:r>
          </a:p>
          <a:p>
            <a:pPr>
              <a:spcBef>
                <a:spcPts val="1000"/>
              </a:spcBef>
              <a:defRPr sz="1400"/>
            </a:pPr>
            <a:r>
              <a:t>• Deal desk alignment 2 stages earlier for pricing strategy.</a:t>
            </a:r>
          </a:p>
          <a:p>
            <a:pPr>
              <a:spcBef>
                <a:spcPts val="1000"/>
              </a:spcBef>
              <a:defRPr sz="1400"/>
            </a:pPr>
            <a:r>
              <a:t>• Standardized compliance discovery checklist in first call.</a:t>
            </a:r>
          </a:p>
          <a:p>
            <a:pPr>
              <a:spcBef>
                <a:spcPts val="1000"/>
              </a:spcBef>
              <a:defRPr sz="1400"/>
            </a:pPr>
            <a:r>
              <a:t>• Executive sponsor mapping required before proposal stage.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90-Day Growth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12A4A"/>
                </a:solidFill>
              </a:defRPr>
            </a:pPr>
            <a:r>
              <a:t>Expand Strategic Accounts</a:t>
            </a:r>
          </a:p>
          <a:p>
            <a:pPr>
              <a:spcBef>
                <a:spcPts val="800"/>
              </a:spcBef>
              <a:defRPr sz="1300">
                <a:solidFill>
                  <a:srgbClr val="5A646E"/>
                </a:solidFill>
              </a:defRPr>
            </a:pPr>
            <a:r>
              <a:t>Focus: Top 20 accounts</a:t>
            </a:r>
          </a:p>
          <a:p>
            <a:pPr>
              <a:spcBef>
                <a:spcPts val="1000"/>
              </a:spcBef>
              <a:defRPr sz="1300"/>
            </a:pPr>
            <a:r>
              <a:t>Run value workshops and attach expansion use cases.</a:t>
            </a:r>
          </a:p>
          <a:p>
            <a:pPr>
              <a:spcBef>
                <a:spcPts val="1200"/>
              </a:spcBef>
              <a:defRPr sz="1300" b="1">
                <a:solidFill>
                  <a:srgbClr val="00A699"/>
                </a:solidFill>
              </a:defRPr>
            </a:pPr>
            <a:r>
              <a:t>Expected impact: $420K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37360"/>
            <a:ext cx="33832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12A4A"/>
                </a:solidFill>
              </a:defRPr>
            </a:pPr>
            <a:r>
              <a:t>Increase New Logo Velocity</a:t>
            </a:r>
          </a:p>
          <a:p>
            <a:pPr>
              <a:spcBef>
                <a:spcPts val="800"/>
              </a:spcBef>
              <a:defRPr sz="1300">
                <a:solidFill>
                  <a:srgbClr val="5A646E"/>
                </a:solidFill>
              </a:defRPr>
            </a:pPr>
            <a:r>
              <a:t>Focus: Mid-market ICP</a:t>
            </a:r>
          </a:p>
          <a:p>
            <a:pPr>
              <a:spcBef>
                <a:spcPts val="1000"/>
              </a:spcBef>
              <a:defRPr sz="1300"/>
            </a:pPr>
            <a:r>
              <a:t>Weekly outbound sprint with intent-based targeting.</a:t>
            </a:r>
          </a:p>
          <a:p>
            <a:pPr>
              <a:spcBef>
                <a:spcPts val="1200"/>
              </a:spcBef>
              <a:defRPr sz="1300" b="1">
                <a:solidFill>
                  <a:srgbClr val="00A699"/>
                </a:solidFill>
              </a:defRPr>
            </a:pPr>
            <a:r>
              <a:t>Expected impact: $310K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737360"/>
            <a:ext cx="33832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12A4A"/>
                </a:solidFill>
              </a:defRPr>
            </a:pPr>
            <a:r>
              <a:t>Scale Partner Motion</a:t>
            </a:r>
          </a:p>
          <a:p>
            <a:pPr>
              <a:spcBef>
                <a:spcPts val="800"/>
              </a:spcBef>
              <a:defRPr sz="1300">
                <a:solidFill>
                  <a:srgbClr val="5A646E"/>
                </a:solidFill>
              </a:defRPr>
            </a:pPr>
            <a:r>
              <a:t>Focus: 2 core partners</a:t>
            </a:r>
          </a:p>
          <a:p>
            <a:pPr>
              <a:spcBef>
                <a:spcPts val="1000"/>
              </a:spcBef>
              <a:defRPr sz="1300"/>
            </a:pPr>
            <a:r>
              <a:t>Joint account planning and monthly co-sell campaigns.</a:t>
            </a:r>
          </a:p>
          <a:p>
            <a:pPr>
              <a:spcBef>
                <a:spcPts val="1200"/>
              </a:spcBef>
              <a:defRPr sz="1300" b="1">
                <a:solidFill>
                  <a:srgbClr val="00A699"/>
                </a:solidFill>
              </a:defRPr>
            </a:pPr>
            <a:r>
              <a:t>Expected impact: $190K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Risks &amp; Mitigation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149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A4A"/>
                </a:solidFill>
              </a:defRPr>
            </a:pPr>
            <a:r>
              <a:t>Risk: Enterprise procurement delays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Impact: Late-stage slippage risk | Mitigation: Pre-negotiate legal terms and align procurement by stage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149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A4A"/>
                </a:solidFill>
              </a:defRPr>
            </a:pPr>
            <a:r>
              <a:t>Risk: Competitive discounting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Impact: Margin compression | Mitigation: Codify value proof and deploy approval guardrails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149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A4A"/>
                </a:solidFill>
              </a:defRPr>
            </a:pPr>
            <a:r>
              <a:t>Risk: SE bandwidth constraints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Impact: Discovery bottlenecks | Mitigation: Prioritize strategic opportunities with shared weekly triage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Call to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60320"/>
            <a:ext cx="9966960" cy="2651760"/>
          </a:xfrm>
          <a:prstGeom prst="roundRect">
            <a:avLst/>
          </a:prstGeom>
          <a:solidFill>
            <a:srgbClr val="1B3A60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1) Pricing flexibility for top 5 strategic opportunities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2) Targeted marketing air cover in two priority verticals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3) Dedicated SE capacity for enterprise expansion deals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6DCF5"/>
                </a:solidFill>
              </a:defRPr>
            </a:pPr>
            <a:r>
              <a:t>Thank you — ready for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